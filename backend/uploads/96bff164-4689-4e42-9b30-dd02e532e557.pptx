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34"/>
  </p:notesMasterIdLst>
  <p:sldIdLst>
    <p:sldId id="256" r:id="rId2"/>
    <p:sldId id="257" r:id="rId3"/>
    <p:sldId id="258" r:id="rId4"/>
    <p:sldId id="286" r:id="rId5"/>
    <p:sldId id="259" r:id="rId6"/>
    <p:sldId id="281" r:id="rId7"/>
    <p:sldId id="260" r:id="rId8"/>
    <p:sldId id="261" r:id="rId9"/>
    <p:sldId id="262" r:id="rId10"/>
    <p:sldId id="263" r:id="rId11"/>
    <p:sldId id="282" r:id="rId12"/>
    <p:sldId id="265" r:id="rId13"/>
    <p:sldId id="266" r:id="rId14"/>
    <p:sldId id="267" r:id="rId15"/>
    <p:sldId id="295" r:id="rId16"/>
    <p:sldId id="268" r:id="rId17"/>
    <p:sldId id="296" r:id="rId18"/>
    <p:sldId id="288" r:id="rId19"/>
    <p:sldId id="270" r:id="rId20"/>
    <p:sldId id="294" r:id="rId21"/>
    <p:sldId id="289" r:id="rId22"/>
    <p:sldId id="285" r:id="rId23"/>
    <p:sldId id="273" r:id="rId24"/>
    <p:sldId id="274" r:id="rId25"/>
    <p:sldId id="290" r:id="rId26"/>
    <p:sldId id="291" r:id="rId27"/>
    <p:sldId id="292" r:id="rId28"/>
    <p:sldId id="293" r:id="rId29"/>
    <p:sldId id="278" r:id="rId30"/>
    <p:sldId id="283" r:id="rId31"/>
    <p:sldId id="284"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89" d="100"/>
          <a:sy n="89" d="100"/>
        </p:scale>
        <p:origin x="29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15F01-8705-4AFA-9415-87BEE9C094B3}" type="datetimeFigureOut">
              <a:rPr lang="en-IN" smtClean="0"/>
              <a:t>26-04-2026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F49ED8-9177-418D-93CC-405A25A41BA6}" type="slidenum">
              <a:rPr lang="en-IN" smtClean="0"/>
              <a:t>‹#›</a:t>
            </a:fld>
            <a:endParaRPr lang="en-IN"/>
          </a:p>
        </p:txBody>
      </p:sp>
    </p:spTree>
    <p:extLst>
      <p:ext uri="{BB962C8B-B14F-4D97-AF65-F5344CB8AC3E}">
        <p14:creationId xmlns:p14="http://schemas.microsoft.com/office/powerpoint/2010/main" val="1655372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A804CE-3CC0-4CF8-999F-A46CECA2C8EF}"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3554817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8A804CE-3CC0-4CF8-999F-A46CECA2C8EF}"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1870783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A804CE-3CC0-4CF8-999F-A46CECA2C8EF}"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3187979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A804CE-3CC0-4CF8-999F-A46CECA2C8EF}"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2171242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A804CE-3CC0-4CF8-999F-A46CECA2C8EF}" type="datetimeFigureOut">
              <a:rPr lang="en-IN" smtClean="0"/>
              <a:t>26-04-2026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3383936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8A804CE-3CC0-4CF8-999F-A46CECA2C8EF}" type="datetimeFigureOut">
              <a:rPr lang="en-IN" smtClean="0"/>
              <a:t>26-04-2026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3347348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8A804CE-3CC0-4CF8-999F-A46CECA2C8EF}" type="datetimeFigureOut">
              <a:rPr lang="en-IN" smtClean="0"/>
              <a:t>26-04-2026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1114676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8A804CE-3CC0-4CF8-999F-A46CECA2C8EF}" type="datetimeFigureOut">
              <a:rPr lang="en-IN" smtClean="0"/>
              <a:t>26-04-2026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1312837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A804CE-3CC0-4CF8-999F-A46CECA2C8EF}"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2227880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A804CE-3CC0-4CF8-999F-A46CECA2C8EF}"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113228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8A804CE-3CC0-4CF8-999F-A46CECA2C8EF}"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3056518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8A804CE-3CC0-4CF8-999F-A46CECA2C8EF}"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C3E94-DC8D-42FB-95CF-481DE0583233}"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8168985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A804CE-3CC0-4CF8-999F-A46CECA2C8EF}"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2043738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8A804CE-3CC0-4CF8-999F-A46CECA2C8EF}" type="datetimeFigureOut">
              <a:rPr lang="en-IN" smtClean="0"/>
              <a:t>26-04-2026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2222018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8A804CE-3CC0-4CF8-999F-A46CECA2C8EF}" type="datetimeFigureOut">
              <a:rPr lang="en-IN" smtClean="0"/>
              <a:t>26-04-2026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367348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A804CE-3CC0-4CF8-999F-A46CECA2C8EF}"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6977109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A804CE-3CC0-4CF8-999F-A46CECA2C8EF}"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C3E94-DC8D-42FB-95CF-481DE0583233}" type="slidenum">
              <a:rPr lang="en-IN" smtClean="0"/>
              <a:t>‹#›</a:t>
            </a:fld>
            <a:endParaRPr lang="en-IN"/>
          </a:p>
        </p:txBody>
      </p:sp>
    </p:spTree>
    <p:extLst>
      <p:ext uri="{BB962C8B-B14F-4D97-AF65-F5344CB8AC3E}">
        <p14:creationId xmlns:p14="http://schemas.microsoft.com/office/powerpoint/2010/main" val="167284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8A804CE-3CC0-4CF8-999F-A46CECA2C8EF}" type="datetimeFigureOut">
              <a:rPr lang="en-IN" smtClean="0"/>
              <a:t>26-04-2026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BCC3E94-DC8D-42FB-95CF-481DE0583233}" type="slidenum">
              <a:rPr lang="en-IN" smtClean="0"/>
              <a:t>‹#›</a:t>
            </a:fld>
            <a:endParaRPr lang="en-IN"/>
          </a:p>
        </p:txBody>
      </p:sp>
    </p:spTree>
    <p:extLst>
      <p:ext uri="{BB962C8B-B14F-4D97-AF65-F5344CB8AC3E}">
        <p14:creationId xmlns:p14="http://schemas.microsoft.com/office/powerpoint/2010/main" val="4145204"/>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90CF896-AAD5-6908-790C-CA6FB7EDD175}"/>
              </a:ext>
            </a:extLst>
          </p:cNvPr>
          <p:cNvSpPr>
            <a:spLocks noGrp="1"/>
          </p:cNvSpPr>
          <p:nvPr>
            <p:ph type="subTitle" idx="1"/>
          </p:nvPr>
        </p:nvSpPr>
        <p:spPr>
          <a:xfrm>
            <a:off x="2931997" y="1430331"/>
            <a:ext cx="8825658" cy="2995020"/>
          </a:xfrm>
        </p:spPr>
        <p:txBody>
          <a:bodyPr>
            <a:normAutofit/>
          </a:bodyPr>
          <a:lstStyle/>
          <a:p>
            <a:pPr>
              <a:tabLst>
                <a:tab pos="8255000" algn="l"/>
              </a:tabLst>
            </a:pPr>
            <a:r>
              <a:rPr lang="en-US" sz="2400" b="1" dirty="0">
                <a:latin typeface="Times New Roman" panose="02020603050405020304" pitchFamily="18" charset="0"/>
                <a:cs typeface="Times New Roman" panose="02020603050405020304" pitchFamily="18" charset="0"/>
              </a:rPr>
              <a:t>St. ANN’S COLLEGE OF ENGINEERING &amp; TECHNOLOGY</a:t>
            </a:r>
            <a:endParaRPr lang="en-IN" sz="2400"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(Department of Computer Science &amp; Engineering)</a:t>
            </a:r>
            <a:endParaRPr lang="en-IN"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p>
          <a:p>
            <a:endParaRPr lang="en-IN" sz="2400" dirty="0"/>
          </a:p>
          <a:p>
            <a:endParaRPr lang="en-IN" sz="2400" dirty="0"/>
          </a:p>
        </p:txBody>
      </p:sp>
      <p:pic>
        <p:nvPicPr>
          <p:cNvPr id="1026" name="Picture 2" descr="About our College – SACET">
            <a:extLst>
              <a:ext uri="{FF2B5EF4-FFF2-40B4-BE49-F238E27FC236}">
                <a16:creationId xmlns:a16="http://schemas.microsoft.com/office/drawing/2014/main" id="{21C34A24-E656-EE6F-BB76-1F6ECB5AA7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215" y="1195504"/>
            <a:ext cx="1709784" cy="164258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AF55AB1-7217-9636-E721-B2F51472F902}"/>
              </a:ext>
            </a:extLst>
          </p:cNvPr>
          <p:cNvSpPr txBox="1"/>
          <p:nvPr/>
        </p:nvSpPr>
        <p:spPr>
          <a:xfrm>
            <a:off x="992327" y="4290646"/>
            <a:ext cx="10644708" cy="2031325"/>
          </a:xfrm>
          <a:prstGeom prst="rect">
            <a:avLst/>
          </a:prstGeom>
          <a:noFill/>
        </p:spPr>
        <p:txBody>
          <a:bodyPr wrap="square" rtlCol="0">
            <a:spAutoFit/>
          </a:bodyPr>
          <a:lstStyle/>
          <a:p>
            <a:pPr>
              <a:tabLst>
                <a:tab pos="7797800" algn="l"/>
                <a:tab pos="8255000" algn="l"/>
              </a:tabLst>
            </a:pPr>
            <a:endParaRPr lang="en-US" b="1" dirty="0">
              <a:latin typeface="Times New Roman" panose="02020603050405020304" pitchFamily="18" charset="0"/>
              <a:cs typeface="Times New Roman" panose="02020603050405020304" pitchFamily="18" charset="0"/>
            </a:endParaRPr>
          </a:p>
          <a:p>
            <a:pPr>
              <a:tabLst>
                <a:tab pos="7797800" algn="l"/>
                <a:tab pos="8255000" algn="l"/>
              </a:tabLst>
            </a:pPr>
            <a:r>
              <a:rPr lang="en-US" b="1" dirty="0">
                <a:latin typeface="Times New Roman" panose="02020603050405020304" pitchFamily="18" charset="0"/>
                <a:cs typeface="Times New Roman" panose="02020603050405020304" pitchFamily="18" charset="0"/>
              </a:rPr>
              <a:t>PRESENTED BY (BATCH-C13)                                                                                     Guided by:</a:t>
            </a:r>
          </a:p>
          <a:p>
            <a:pPr marL="180975" indent="-180975">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Shaik Afrin (22F01A05F0)                                                                                               </a:t>
            </a:r>
            <a:r>
              <a:rPr lang="en-US" dirty="0" err="1">
                <a:latin typeface="Times New Roman" panose="02020603050405020304" pitchFamily="18" charset="0"/>
                <a:cs typeface="Times New Roman" panose="02020603050405020304" pitchFamily="18" charset="0"/>
              </a:rPr>
              <a:t>Mr.T.SeshaSai</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180975" indent="-180975">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Reddy Tejaswi (22F01A05E1)                                                                                          Assistant Professor </a:t>
            </a:r>
          </a:p>
          <a:p>
            <a:pPr marL="180975" indent="-180975">
              <a:buFont typeface="Arial" panose="020B0604020202020204" pitchFamily="34" charset="0"/>
              <a:buChar char="•"/>
              <a:tabLst>
                <a:tab pos="10050463" algn="l"/>
              </a:tabLst>
            </a:pPr>
            <a:r>
              <a:rPr lang="en-US" dirty="0" err="1">
                <a:latin typeface="Times New Roman" panose="02020603050405020304" pitchFamily="18" charset="0"/>
                <a:cs typeface="Times New Roman" panose="02020603050405020304" pitchFamily="18" charset="0"/>
              </a:rPr>
              <a:t>Tatikonda</a:t>
            </a:r>
            <a:r>
              <a:rPr lang="en-US" dirty="0">
                <a:latin typeface="Times New Roman" panose="02020603050405020304" pitchFamily="18" charset="0"/>
                <a:cs typeface="Times New Roman" panose="02020603050405020304" pitchFamily="18" charset="0"/>
              </a:rPr>
              <a:t> Sathvik (22F01A05H0)                                                                                    </a:t>
            </a:r>
            <a:r>
              <a:rPr lang="en-US" b="1" dirty="0" err="1">
                <a:latin typeface="Times New Roman" panose="02020603050405020304" pitchFamily="18" charset="0"/>
                <a:cs typeface="Times New Roman" panose="02020603050405020304" pitchFamily="18" charset="0"/>
              </a:rPr>
              <a:t>Domain</a:t>
            </a:r>
            <a:r>
              <a:rPr lang="en-US" dirty="0" err="1">
                <a:latin typeface="Times New Roman" panose="02020603050405020304" pitchFamily="18" charset="0"/>
                <a:cs typeface="Times New Roman" panose="02020603050405020304" pitchFamily="18" charset="0"/>
              </a:rPr>
              <a:t>:Generative</a:t>
            </a:r>
            <a:r>
              <a:rPr lang="en-US" dirty="0">
                <a:latin typeface="Times New Roman" panose="02020603050405020304" pitchFamily="18" charset="0"/>
                <a:cs typeface="Times New Roman" panose="02020603050405020304" pitchFamily="18" charset="0"/>
              </a:rPr>
              <a:t> AI</a:t>
            </a:r>
          </a:p>
          <a:p>
            <a:pPr marL="109728" indent="0" algn="ctr">
              <a:buNone/>
            </a:pPr>
            <a:r>
              <a:rPr lang="en-US" dirty="0">
                <a:latin typeface="Times New Roman" panose="02020603050405020304" pitchFamily="18" charset="0"/>
                <a:cs typeface="Times New Roman" panose="02020603050405020304" pitchFamily="18" charset="0"/>
              </a:rPr>
              <a:t>                                                                                                                </a:t>
            </a:r>
          </a:p>
          <a:p>
            <a:endParaRPr lang="en-IN" dirty="0"/>
          </a:p>
        </p:txBody>
      </p:sp>
      <p:sp>
        <p:nvSpPr>
          <p:cNvPr id="7" name="TextBox 6">
            <a:extLst>
              <a:ext uri="{FF2B5EF4-FFF2-40B4-BE49-F238E27FC236}">
                <a16:creationId xmlns:a16="http://schemas.microsoft.com/office/drawing/2014/main" id="{F6E5626B-D746-6A7A-E177-D1E105477211}"/>
              </a:ext>
            </a:extLst>
          </p:cNvPr>
          <p:cNvSpPr txBox="1"/>
          <p:nvPr/>
        </p:nvSpPr>
        <p:spPr>
          <a:xfrm>
            <a:off x="922215" y="3004247"/>
            <a:ext cx="10644708" cy="101566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FOODSYNTHNET: GENERATIVE AI  FRAMEWORK FOR  CREATING  CLASS BALANCED FOOD IMAGE DATASETS AND INTELLIGENT CLASSIFICATION</a:t>
            </a:r>
          </a:p>
          <a:p>
            <a:r>
              <a:rPr lang="en-IN" sz="2000" b="1" dirty="0">
                <a:latin typeface="Times New Roman" panose="02020603050405020304" pitchFamily="18" charset="0"/>
                <a:cs typeface="Times New Roman" panose="02020603050405020304" pitchFamily="18" charset="0"/>
              </a:rPr>
              <a:t>FOR NUTRITION MONITORING AND FOOD RECOGNITION APPLICATION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5691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62EF14F-7321-FC85-2588-7FF521081BFC}"/>
              </a:ext>
            </a:extLst>
          </p:cNvPr>
          <p:cNvSpPr txBox="1"/>
          <p:nvPr/>
        </p:nvSpPr>
        <p:spPr>
          <a:xfrm>
            <a:off x="2758959" y="447882"/>
            <a:ext cx="6094562" cy="646331"/>
          </a:xfrm>
          <a:prstGeom prst="rect">
            <a:avLst/>
          </a:prstGeom>
          <a:noFill/>
        </p:spPr>
        <p:txBody>
          <a:bodyPr wrap="square">
            <a:spAutoFit/>
          </a:bodyPr>
          <a:lstStyle/>
          <a:p>
            <a:pPr algn="ctr"/>
            <a:r>
              <a:rPr lang="en-US" sz="3600" b="1" dirty="0">
                <a:solidFill>
                  <a:schemeClr val="tx1"/>
                </a:solidFill>
                <a:effectLst/>
                <a:latin typeface="Times New Roman" panose="02020603050405020304" pitchFamily="18" charset="0"/>
                <a:cs typeface="Times New Roman" panose="02020603050405020304" pitchFamily="18" charset="0"/>
              </a:rPr>
              <a:t>CONTENTS</a:t>
            </a:r>
            <a:endParaRPr lang="en-IN" sz="3600" dirty="0"/>
          </a:p>
        </p:txBody>
      </p:sp>
      <p:sp>
        <p:nvSpPr>
          <p:cNvPr id="6" name="TextBox 5">
            <a:extLst>
              <a:ext uri="{FF2B5EF4-FFF2-40B4-BE49-F238E27FC236}">
                <a16:creationId xmlns:a16="http://schemas.microsoft.com/office/drawing/2014/main" id="{2BE1A302-CE2A-29C4-B8A4-79B0222BBFEC}"/>
              </a:ext>
            </a:extLst>
          </p:cNvPr>
          <p:cNvSpPr txBox="1"/>
          <p:nvPr/>
        </p:nvSpPr>
        <p:spPr>
          <a:xfrm>
            <a:off x="1101526" y="1806672"/>
            <a:ext cx="7597715" cy="4524315"/>
          </a:xfrm>
          <a:prstGeom prst="rect">
            <a:avLst/>
          </a:prstGeom>
          <a:noFill/>
        </p:spPr>
        <p:txBody>
          <a:bodyPr wrap="square">
            <a:spAutoFit/>
          </a:bodyPr>
          <a:lstStyle/>
          <a:p>
            <a:pPr marL="342900" indent="-342900">
              <a:buFont typeface="Wingdings" panose="05000000000000000000" pitchFamily="2" charset="2"/>
              <a:buChar char="q"/>
            </a:pPr>
            <a:r>
              <a:rPr lang="en-US" sz="2400" dirty="0">
                <a:solidFill>
                  <a:schemeClr val="tx1"/>
                </a:solidFill>
                <a:latin typeface="Times New Roman" panose="02020603050405020304" pitchFamily="18" charset="0"/>
                <a:cs typeface="Times New Roman" panose="02020603050405020304" pitchFamily="18" charset="0"/>
              </a:rPr>
              <a:t>Abstract</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Introduction</a:t>
            </a:r>
            <a:endParaRPr lang="en-US" sz="2400" dirty="0">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solidFill>
                  <a:schemeClr val="tx1"/>
                </a:solidFill>
                <a:latin typeface="Times New Roman" panose="02020603050405020304" pitchFamily="18" charset="0"/>
                <a:cs typeface="Times New Roman" panose="02020603050405020304" pitchFamily="18" charset="0"/>
              </a:rPr>
              <a:t>Objective of the Project</a:t>
            </a:r>
          </a:p>
          <a:p>
            <a:pPr marL="342900" indent="-342900">
              <a:buFont typeface="Wingdings" panose="05000000000000000000" pitchFamily="2" charset="2"/>
              <a:buChar char="q"/>
            </a:pPr>
            <a:r>
              <a:rPr lang="en-US" sz="2400" dirty="0">
                <a:solidFill>
                  <a:schemeClr val="tx1"/>
                </a:solidFill>
                <a:latin typeface="Times New Roman" panose="02020603050405020304" pitchFamily="18" charset="0"/>
                <a:cs typeface="Times New Roman" panose="02020603050405020304" pitchFamily="18" charset="0"/>
              </a:rPr>
              <a:t>Scope of the Project          </a:t>
            </a:r>
          </a:p>
          <a:p>
            <a:pPr marL="342900" indent="-342900">
              <a:buFont typeface="Wingdings" panose="05000000000000000000" pitchFamily="2" charset="2"/>
              <a:buChar char="q"/>
            </a:pPr>
            <a:r>
              <a:rPr lang="en-US" sz="2400" dirty="0">
                <a:solidFill>
                  <a:schemeClr val="tx1"/>
                </a:solidFill>
                <a:latin typeface="Times New Roman" panose="02020603050405020304" pitchFamily="18" charset="0"/>
                <a:cs typeface="Times New Roman" panose="02020603050405020304" pitchFamily="18" charset="0"/>
              </a:rPr>
              <a:t>Literature Review</a:t>
            </a:r>
          </a:p>
          <a:p>
            <a:pPr marL="342900" indent="-342900">
              <a:buFont typeface="Wingdings" panose="05000000000000000000" pitchFamily="2" charset="2"/>
              <a:buChar char="q"/>
            </a:pPr>
            <a:r>
              <a:rPr lang="en-US" sz="2400" dirty="0">
                <a:solidFill>
                  <a:schemeClr val="tx1"/>
                </a:solidFill>
                <a:latin typeface="Times New Roman" panose="02020603050405020304" pitchFamily="18" charset="0"/>
                <a:cs typeface="Times New Roman" panose="02020603050405020304" pitchFamily="18" charset="0"/>
              </a:rPr>
              <a:t>Existing System</a:t>
            </a:r>
          </a:p>
          <a:p>
            <a:pPr marL="342900" indent="-342900">
              <a:buFont typeface="Wingdings" panose="05000000000000000000" pitchFamily="2" charset="2"/>
              <a:buChar char="q"/>
            </a:pPr>
            <a:r>
              <a:rPr lang="en-US" sz="2400" dirty="0">
                <a:solidFill>
                  <a:schemeClr val="tx1"/>
                </a:solidFill>
                <a:latin typeface="Times New Roman" panose="02020603050405020304" pitchFamily="18" charset="0"/>
                <a:cs typeface="Times New Roman" panose="02020603050405020304" pitchFamily="18" charset="0"/>
              </a:rPr>
              <a:t>Drawbacks of Existing System</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Proposed System</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System Requirements</a:t>
            </a:r>
          </a:p>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sz="2400" dirty="0"/>
          </a:p>
          <a:p>
            <a:pPr marL="285750" indent="-285750" algn="l">
              <a:buFont typeface="Arial" panose="020B0604020202020204" pitchFamily="34" charset="0"/>
              <a:buChar char="•"/>
            </a:pPr>
            <a:endParaRPr lang="en-IN" sz="2400" dirty="0"/>
          </a:p>
        </p:txBody>
      </p:sp>
      <p:sp>
        <p:nvSpPr>
          <p:cNvPr id="8" name="TextBox 7">
            <a:extLst>
              <a:ext uri="{FF2B5EF4-FFF2-40B4-BE49-F238E27FC236}">
                <a16:creationId xmlns:a16="http://schemas.microsoft.com/office/drawing/2014/main" id="{C88215BE-97E4-ED9F-701C-9B0C3E7EC1E5}"/>
              </a:ext>
            </a:extLst>
          </p:cNvPr>
          <p:cNvSpPr txBox="1"/>
          <p:nvPr/>
        </p:nvSpPr>
        <p:spPr>
          <a:xfrm>
            <a:off x="6850921" y="1806672"/>
            <a:ext cx="6592019" cy="3046988"/>
          </a:xfrm>
          <a:prstGeom prst="rect">
            <a:avLst/>
          </a:prstGeom>
          <a:noFill/>
        </p:spPr>
        <p:txBody>
          <a:bodyPr wrap="square">
            <a:spAutoFit/>
          </a:bodyPr>
          <a:lstStyle/>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Modules</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UML Diagrams</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Algorithm</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Implementation</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Testing</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Conclusion</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Future Scope</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References</a:t>
            </a:r>
            <a:endParaRPr lang="en-US" sz="2400" dirty="0"/>
          </a:p>
        </p:txBody>
      </p:sp>
    </p:spTree>
    <p:extLst>
      <p:ext uri="{BB962C8B-B14F-4D97-AF65-F5344CB8AC3E}">
        <p14:creationId xmlns:p14="http://schemas.microsoft.com/office/powerpoint/2010/main" val="1047147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5FFE1E-4FB2-D521-9C4E-74787F0F5FC5}"/>
              </a:ext>
            </a:extLst>
          </p:cNvPr>
          <p:cNvSpPr txBox="1"/>
          <p:nvPr/>
        </p:nvSpPr>
        <p:spPr>
          <a:xfrm>
            <a:off x="4384431" y="562679"/>
            <a:ext cx="6411789" cy="646331"/>
          </a:xfrm>
          <a:prstGeom prst="rect">
            <a:avLst/>
          </a:prstGeom>
          <a:noFill/>
        </p:spPr>
        <p:txBody>
          <a:bodyPr wrap="square">
            <a:spAutoFit/>
          </a:bodyPr>
          <a:lstStyle/>
          <a:p>
            <a:r>
              <a:rPr lang="en-US" sz="3600" b="1" dirty="0">
                <a:solidFill>
                  <a:schemeClr val="tx1"/>
                </a:solidFill>
                <a:effectLst/>
                <a:latin typeface="Times New Roman" panose="02020603050405020304" pitchFamily="18" charset="0"/>
                <a:cs typeface="Times New Roman" panose="02020603050405020304" pitchFamily="18" charset="0"/>
              </a:rPr>
              <a:t>ABSTRACT</a:t>
            </a:r>
            <a:endParaRPr lang="en-IN" sz="3600" dirty="0"/>
          </a:p>
        </p:txBody>
      </p:sp>
      <p:sp>
        <p:nvSpPr>
          <p:cNvPr id="5" name="TextBox 4">
            <a:extLst>
              <a:ext uri="{FF2B5EF4-FFF2-40B4-BE49-F238E27FC236}">
                <a16:creationId xmlns:a16="http://schemas.microsoft.com/office/drawing/2014/main" id="{8DD19268-9A1C-9B67-50A2-4008BE819663}"/>
              </a:ext>
            </a:extLst>
          </p:cNvPr>
          <p:cNvSpPr txBox="1"/>
          <p:nvPr/>
        </p:nvSpPr>
        <p:spPr>
          <a:xfrm>
            <a:off x="1511780" y="2040805"/>
            <a:ext cx="9568228" cy="341632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Food recognition is essential for promoting healthy dietary habits and preventing lifestyle-related diseases. Existing systems often face challenges such as class imbalance, limited food variety, and poor nutritional integration. </a:t>
            </a:r>
            <a:r>
              <a:rPr lang="en-US" sz="2400" dirty="0" err="1">
                <a:latin typeface="Times New Roman" panose="02020603050405020304" pitchFamily="18" charset="0"/>
                <a:cs typeface="Times New Roman" panose="02020603050405020304" pitchFamily="18" charset="0"/>
              </a:rPr>
              <a:t>FoodSynthNet</a:t>
            </a:r>
            <a:r>
              <a:rPr lang="en-US" sz="2400" dirty="0">
                <a:latin typeface="Times New Roman" panose="02020603050405020304" pitchFamily="18" charset="0"/>
                <a:cs typeface="Times New Roman" panose="02020603050405020304" pitchFamily="18" charset="0"/>
              </a:rPr>
              <a:t> proposes a Generative AI–based framework using Conditional Generative Adversarial Networks (</a:t>
            </a:r>
            <a:r>
              <a:rPr lang="en-US" sz="2400" dirty="0" err="1">
                <a:latin typeface="Times New Roman" panose="02020603050405020304" pitchFamily="18" charset="0"/>
                <a:cs typeface="Times New Roman" panose="02020603050405020304" pitchFamily="18" charset="0"/>
              </a:rPr>
              <a:t>cGANs</a:t>
            </a:r>
            <a:r>
              <a:rPr lang="en-US" sz="2400" dirty="0">
                <a:latin typeface="Times New Roman" panose="02020603050405020304" pitchFamily="18" charset="0"/>
                <a:cs typeface="Times New Roman" panose="02020603050405020304" pitchFamily="18" charset="0"/>
              </a:rPr>
              <a:t>) to create class-balanced food image datasets and improve classification accuracy. The system combines food recognition with detailed nutrition analysis and health recommendations through a web application.</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8689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464CBA-0C49-AEC1-A2C3-B9386DB394D5}"/>
              </a:ext>
            </a:extLst>
          </p:cNvPr>
          <p:cNvSpPr txBox="1"/>
          <p:nvPr/>
        </p:nvSpPr>
        <p:spPr>
          <a:xfrm>
            <a:off x="3141785" y="1211385"/>
            <a:ext cx="5634892"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INTRODUCTION</a:t>
            </a:r>
          </a:p>
        </p:txBody>
      </p:sp>
      <p:sp>
        <p:nvSpPr>
          <p:cNvPr id="4" name="TextBox 3">
            <a:extLst>
              <a:ext uri="{FF2B5EF4-FFF2-40B4-BE49-F238E27FC236}">
                <a16:creationId xmlns:a16="http://schemas.microsoft.com/office/drawing/2014/main" id="{9596012C-0D4A-0BB7-467F-B1C72DA68CD5}"/>
              </a:ext>
            </a:extLst>
          </p:cNvPr>
          <p:cNvSpPr txBox="1"/>
          <p:nvPr/>
        </p:nvSpPr>
        <p:spPr>
          <a:xfrm>
            <a:off x="1258277" y="2248763"/>
            <a:ext cx="9675446" cy="2308324"/>
          </a:xfrm>
          <a:prstGeom prst="rect">
            <a:avLst/>
          </a:prstGeom>
          <a:noFill/>
        </p:spPr>
        <p:txBody>
          <a:bodyPr wrap="square">
            <a:spAutoFit/>
          </a:bodyPr>
          <a:lstStyle/>
          <a:p>
            <a:pPr algn="just">
              <a:buNone/>
            </a:pPr>
            <a:r>
              <a:rPr lang="en-US" sz="2400" dirty="0" err="1">
                <a:latin typeface="Times New Roman" panose="02020603050405020304" pitchFamily="18" charset="0"/>
                <a:cs typeface="Times New Roman" panose="02020603050405020304" pitchFamily="18" charset="0"/>
              </a:rPr>
              <a:t>FoodSynthNet</a:t>
            </a:r>
            <a:r>
              <a:rPr lang="en-US" sz="2400" dirty="0">
                <a:latin typeface="Times New Roman" panose="02020603050405020304" pitchFamily="18" charset="0"/>
                <a:cs typeface="Times New Roman" panose="02020603050405020304" pitchFamily="18" charset="0"/>
              </a:rPr>
              <a:t> is a Generative AI–based web application that identifies food items from images and provides detailed nutritional information. The system uses class-balanced datasets generated through Generative AI to improve the accuracy of food classification. Users can upload images through a simple interface and receive details such as calories, nutrients, vitamins, minerals, and health suggestions, helping them make better dietary decisions.</a:t>
            </a:r>
          </a:p>
        </p:txBody>
      </p:sp>
    </p:spTree>
    <p:extLst>
      <p:ext uri="{BB962C8B-B14F-4D97-AF65-F5344CB8AC3E}">
        <p14:creationId xmlns:p14="http://schemas.microsoft.com/office/powerpoint/2010/main" val="472443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58B3D0-6278-5741-610D-98B06B63484D}"/>
              </a:ext>
            </a:extLst>
          </p:cNvPr>
          <p:cNvSpPr txBox="1"/>
          <p:nvPr/>
        </p:nvSpPr>
        <p:spPr>
          <a:xfrm>
            <a:off x="3047268" y="1362780"/>
            <a:ext cx="6097464" cy="646331"/>
          </a:xfrm>
          <a:prstGeom prst="rect">
            <a:avLst/>
          </a:prstGeom>
          <a:noFill/>
        </p:spPr>
        <p:txBody>
          <a:bodyPr wrap="square">
            <a:spAutoFit/>
          </a:bodyPr>
          <a:lstStyle/>
          <a:p>
            <a:pPr algn="ctr"/>
            <a:r>
              <a:rPr lang="en-US" sz="3600" b="1" dirty="0">
                <a:solidFill>
                  <a:schemeClr val="tx1"/>
                </a:solidFill>
                <a:effectLst/>
                <a:latin typeface="Times New Roman" panose="02020603050405020304" pitchFamily="18" charset="0"/>
                <a:cs typeface="Times New Roman" panose="02020603050405020304" pitchFamily="18" charset="0"/>
              </a:rPr>
              <a:t>SCOPE OF THE PROJECT</a:t>
            </a:r>
            <a:endParaRPr lang="en-IN" sz="3600" dirty="0"/>
          </a:p>
        </p:txBody>
      </p:sp>
      <p:sp>
        <p:nvSpPr>
          <p:cNvPr id="5" name="TextBox 4">
            <a:extLst>
              <a:ext uri="{FF2B5EF4-FFF2-40B4-BE49-F238E27FC236}">
                <a16:creationId xmlns:a16="http://schemas.microsoft.com/office/drawing/2014/main" id="{E39C70C4-208C-F728-CF1E-82DF5BA487F0}"/>
              </a:ext>
            </a:extLst>
          </p:cNvPr>
          <p:cNvSpPr txBox="1"/>
          <p:nvPr/>
        </p:nvSpPr>
        <p:spPr>
          <a:xfrm>
            <a:off x="1147313" y="2629397"/>
            <a:ext cx="9661585" cy="2308324"/>
          </a:xfrm>
          <a:prstGeom prst="rect">
            <a:avLst/>
          </a:prstGeom>
          <a:noFill/>
        </p:spPr>
        <p:txBody>
          <a:bodyPr wrap="square">
            <a:spAutoFit/>
          </a:bodyPr>
          <a:lstStyle/>
          <a:p>
            <a:pPr algn="just">
              <a:buNone/>
            </a:pPr>
            <a:r>
              <a:rPr lang="en-US" sz="2400" dirty="0">
                <a:latin typeface="Times New Roman" panose="02020603050405020304" pitchFamily="18" charset="0"/>
                <a:cs typeface="Times New Roman" panose="02020603050405020304" pitchFamily="18" charset="0"/>
              </a:rPr>
              <a:t>The scope of this project is to develop a web-based intelligent food recognition and nutrition monitoring system that identifies food items from images using deep learning models trained on class-balanced datasets generated through Generative AI techniques. The system provides detailed nutritional information, including calories and health benefits, and offers dietary recommendations to support healthy eating habits. </a:t>
            </a:r>
          </a:p>
        </p:txBody>
      </p:sp>
    </p:spTree>
    <p:extLst>
      <p:ext uri="{BB962C8B-B14F-4D97-AF65-F5344CB8AC3E}">
        <p14:creationId xmlns:p14="http://schemas.microsoft.com/office/powerpoint/2010/main" val="505749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FB2DEE-B859-4426-2DC8-D20B7A235629}"/>
              </a:ext>
            </a:extLst>
          </p:cNvPr>
          <p:cNvSpPr txBox="1"/>
          <p:nvPr/>
        </p:nvSpPr>
        <p:spPr>
          <a:xfrm>
            <a:off x="2494655" y="826072"/>
            <a:ext cx="7401169"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OBJECTIVE OF THE PROJECT</a:t>
            </a:r>
            <a:endParaRPr lang="en-IN" sz="36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BB219A2-7D75-ADCA-BBB3-62E9DB10650B}"/>
              </a:ext>
            </a:extLst>
          </p:cNvPr>
          <p:cNvSpPr txBox="1"/>
          <p:nvPr/>
        </p:nvSpPr>
        <p:spPr>
          <a:xfrm>
            <a:off x="950344" y="2274838"/>
            <a:ext cx="10291312" cy="2308324"/>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primary objective of this project is to generate class-balanced food image datasets using Generative AI techniques to improve food classification accuracy. The system accurately identifies food items from uploaded images and presents detailed nutritional information, including health benefits and dietary recommendations. Overall, the project aims to promote nutrition awareness and support preventive healthcare through intelligent food monitoring.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0839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997088-FD98-7FF6-A9BB-0C0DA94DF1DD}"/>
              </a:ext>
            </a:extLst>
          </p:cNvPr>
          <p:cNvSpPr txBox="1"/>
          <p:nvPr/>
        </p:nvSpPr>
        <p:spPr>
          <a:xfrm>
            <a:off x="2774216" y="959889"/>
            <a:ext cx="6097464"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EXISTING SYSTEM</a:t>
            </a:r>
            <a:endParaRPr lang="en-IN" sz="3600" dirty="0"/>
          </a:p>
        </p:txBody>
      </p:sp>
      <p:sp>
        <p:nvSpPr>
          <p:cNvPr id="5" name="TextBox 4">
            <a:extLst>
              <a:ext uri="{FF2B5EF4-FFF2-40B4-BE49-F238E27FC236}">
                <a16:creationId xmlns:a16="http://schemas.microsoft.com/office/drawing/2014/main" id="{03BF4F51-6749-3484-2375-9080DD48F138}"/>
              </a:ext>
            </a:extLst>
          </p:cNvPr>
          <p:cNvSpPr txBox="1"/>
          <p:nvPr/>
        </p:nvSpPr>
        <p:spPr>
          <a:xfrm>
            <a:off x="646981" y="1882266"/>
            <a:ext cx="10670875" cy="3416320"/>
          </a:xfrm>
          <a:prstGeom prst="rect">
            <a:avLst/>
          </a:prstGeom>
          <a:noFill/>
        </p:spPr>
        <p:txBody>
          <a:bodyPr wrap="square">
            <a:spAutoFit/>
          </a:bodyPr>
          <a:lstStyle/>
          <a:p>
            <a:pPr algn="just">
              <a:buNone/>
            </a:pPr>
            <a:r>
              <a:rPr lang="en-US" sz="2400" dirty="0">
                <a:latin typeface="Times New Roman" panose="02020603050405020304" pitchFamily="18" charset="0"/>
                <a:cs typeface="Times New Roman" panose="02020603050405020304" pitchFamily="18" charset="0"/>
              </a:rPr>
              <a:t>Existing food recognition systems primarily rely on Convolutional Neural Networks (CNNs) and traditional Neural Network (NN) models for identifying food items from images. These models are usually trained on imbalanced and limited food image </a:t>
            </a:r>
            <a:r>
              <a:rPr lang="en-US" sz="2400" dirty="0" err="1">
                <a:latin typeface="Times New Roman" panose="02020603050405020304" pitchFamily="18" charset="0"/>
                <a:cs typeface="Times New Roman" panose="02020603050405020304" pitchFamily="18" charset="0"/>
              </a:rPr>
              <a:t>datasets,which</a:t>
            </a:r>
            <a:r>
              <a:rPr lang="en-US" sz="2400" dirty="0">
                <a:latin typeface="Times New Roman" panose="02020603050405020304" pitchFamily="18" charset="0"/>
                <a:cs typeface="Times New Roman" panose="02020603050405020304" pitchFamily="18" charset="0"/>
              </a:rPr>
              <a:t> leads to biased learning and reduced classification accuracy, especially for less-represented food categories. Moreover, most existing systems focus only on food identification and provide inaccurate or incomplete nutritional values, lacking detailed information such as vitamins, minerals, and health benefits. They also do not incorporate personalized health analysis or dietary recommendations, limiting their usefulness in nutrition monitoring and preventive healthcare applications.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1597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B48B88-DB57-8E48-43A1-E57E468C8803}"/>
              </a:ext>
            </a:extLst>
          </p:cNvPr>
          <p:cNvSpPr txBox="1"/>
          <p:nvPr/>
        </p:nvSpPr>
        <p:spPr>
          <a:xfrm>
            <a:off x="1474037" y="658838"/>
            <a:ext cx="8540639" cy="646331"/>
          </a:xfrm>
          <a:prstGeom prst="rect">
            <a:avLst/>
          </a:prstGeom>
          <a:noFill/>
        </p:spPr>
        <p:txBody>
          <a:bodyPr wrap="square">
            <a:spAutoFit/>
          </a:bodyPr>
          <a:lstStyle/>
          <a:p>
            <a:pPr algn="ctr"/>
            <a:r>
              <a:rPr lang="en-US" sz="3600" b="1" dirty="0">
                <a:solidFill>
                  <a:schemeClr val="tx1"/>
                </a:solidFill>
                <a:effectLst/>
                <a:latin typeface="Times New Roman" panose="02020603050405020304" pitchFamily="18" charset="0"/>
                <a:cs typeface="Times New Roman" panose="02020603050405020304" pitchFamily="18" charset="0"/>
              </a:rPr>
              <a:t>DRAWBACKS OF EXISTING SYSTEM</a:t>
            </a:r>
            <a:endParaRPr lang="en-IN" sz="3600" dirty="0"/>
          </a:p>
        </p:txBody>
      </p:sp>
      <p:sp>
        <p:nvSpPr>
          <p:cNvPr id="5" name="TextBox 4">
            <a:extLst>
              <a:ext uri="{FF2B5EF4-FFF2-40B4-BE49-F238E27FC236}">
                <a16:creationId xmlns:a16="http://schemas.microsoft.com/office/drawing/2014/main" id="{28494C97-E1AA-8FAF-D037-14557D87890A}"/>
              </a:ext>
            </a:extLst>
          </p:cNvPr>
          <p:cNvSpPr txBox="1"/>
          <p:nvPr/>
        </p:nvSpPr>
        <p:spPr>
          <a:xfrm>
            <a:off x="758867" y="2009954"/>
            <a:ext cx="10674266" cy="3785652"/>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Uses CNN and neural network models trained on imbalanced datasets, leading to low classification accuracy.</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Unable to correctly recognize a wide variety of food items.</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Fails to predict accurate and detailed nutrition values.</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Does not provide personalized health or dietary recommendations.</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Lacks integration of advanced Generative AI techniques for dataset enhancement</a:t>
            </a:r>
          </a:p>
        </p:txBody>
      </p:sp>
    </p:spTree>
    <p:extLst>
      <p:ext uri="{BB962C8B-B14F-4D97-AF65-F5344CB8AC3E}">
        <p14:creationId xmlns:p14="http://schemas.microsoft.com/office/powerpoint/2010/main" val="4002591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F77121-54D6-B493-7D30-F68856C752B5}"/>
              </a:ext>
            </a:extLst>
          </p:cNvPr>
          <p:cNvSpPr txBox="1"/>
          <p:nvPr/>
        </p:nvSpPr>
        <p:spPr>
          <a:xfrm>
            <a:off x="2710040" y="754542"/>
            <a:ext cx="6094562" cy="646331"/>
          </a:xfrm>
          <a:prstGeom prst="rect">
            <a:avLst/>
          </a:prstGeom>
          <a:noFill/>
        </p:spPr>
        <p:txBody>
          <a:bodyPr wrap="square">
            <a:spAutoFit/>
          </a:bodyPr>
          <a:lstStyle/>
          <a:p>
            <a:pPr algn="ctr"/>
            <a:r>
              <a:rPr lang="en-US" sz="3600" b="1" dirty="0">
                <a:solidFill>
                  <a:schemeClr val="tx1"/>
                </a:solidFill>
                <a:effectLst/>
                <a:latin typeface="Times New Roman" panose="02020603050405020304" pitchFamily="18" charset="0"/>
                <a:cs typeface="Times New Roman" panose="02020603050405020304" pitchFamily="18" charset="0"/>
              </a:rPr>
              <a:t>PROPOSED SYSTEM</a:t>
            </a:r>
            <a:endParaRPr lang="en-IN" sz="3600" dirty="0"/>
          </a:p>
        </p:txBody>
      </p:sp>
      <p:sp>
        <p:nvSpPr>
          <p:cNvPr id="5" name="TextBox 4">
            <a:extLst>
              <a:ext uri="{FF2B5EF4-FFF2-40B4-BE49-F238E27FC236}">
                <a16:creationId xmlns:a16="http://schemas.microsoft.com/office/drawing/2014/main" id="{EA40ED90-6A63-656F-0482-D22AC8756863}"/>
              </a:ext>
            </a:extLst>
          </p:cNvPr>
          <p:cNvSpPr txBox="1"/>
          <p:nvPr/>
        </p:nvSpPr>
        <p:spPr>
          <a:xfrm>
            <a:off x="793630" y="1866700"/>
            <a:ext cx="10058399" cy="3046988"/>
          </a:xfrm>
          <a:prstGeom prst="rect">
            <a:avLst/>
          </a:prstGeom>
          <a:noFill/>
        </p:spPr>
        <p:txBody>
          <a:bodyPr wrap="square">
            <a:spAutoFit/>
          </a:bodyPr>
          <a:lstStyle/>
          <a:p>
            <a:pPr algn="just">
              <a:buNone/>
            </a:pPr>
            <a:r>
              <a:rPr lang="en-US" sz="2400" dirty="0" err="1">
                <a:latin typeface="Times New Roman" panose="02020603050405020304" pitchFamily="18" charset="0"/>
                <a:cs typeface="Times New Roman" panose="02020603050405020304" pitchFamily="18" charset="0"/>
              </a:rPr>
              <a:t>FoodSynthNet</a:t>
            </a:r>
            <a:r>
              <a:rPr lang="en-US" sz="2400" dirty="0">
                <a:latin typeface="Times New Roman" panose="02020603050405020304" pitchFamily="18" charset="0"/>
                <a:cs typeface="Times New Roman" panose="02020603050405020304" pitchFamily="18" charset="0"/>
              </a:rPr>
              <a:t> is a Generative AI–based food recognition and nutrition monitoring system that uses Conditional GANs (</a:t>
            </a:r>
            <a:r>
              <a:rPr lang="en-US" sz="2400" dirty="0" err="1">
                <a:latin typeface="Times New Roman" panose="02020603050405020304" pitchFamily="18" charset="0"/>
                <a:cs typeface="Times New Roman" panose="02020603050405020304" pitchFamily="18" charset="0"/>
              </a:rPr>
              <a:t>cGANs</a:t>
            </a:r>
            <a:r>
              <a:rPr lang="en-US" sz="2400" dirty="0">
                <a:latin typeface="Times New Roman" panose="02020603050405020304" pitchFamily="18" charset="0"/>
                <a:cs typeface="Times New Roman" panose="02020603050405020304" pitchFamily="18" charset="0"/>
              </a:rPr>
              <a:t>) to generate class-balanced food image datasets. This helps overcome data imbalance and improves the accuracy of food classification models. The system identifies food items from uploaded images and provides detailed nutritional information such as calories, nutrients, vitamins, minerals, and health benefits. It also offers health-aware dietary recommendations through a secure and user-friendly web interface, supporting better nutrition monitoring and preventive healthcare.</a:t>
            </a:r>
          </a:p>
        </p:txBody>
      </p:sp>
    </p:spTree>
    <p:extLst>
      <p:ext uri="{BB962C8B-B14F-4D97-AF65-F5344CB8AC3E}">
        <p14:creationId xmlns:p14="http://schemas.microsoft.com/office/powerpoint/2010/main" val="4017892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B6EB33-5AC6-804D-6418-8EF0CE2FBD54}"/>
              </a:ext>
            </a:extLst>
          </p:cNvPr>
          <p:cNvSpPr txBox="1"/>
          <p:nvPr/>
        </p:nvSpPr>
        <p:spPr>
          <a:xfrm>
            <a:off x="2555631" y="983411"/>
            <a:ext cx="6291384"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LITERATURE REVIEW</a:t>
            </a:r>
          </a:p>
        </p:txBody>
      </p:sp>
      <p:sp>
        <p:nvSpPr>
          <p:cNvPr id="4" name="TextBox 3">
            <a:extLst>
              <a:ext uri="{FF2B5EF4-FFF2-40B4-BE49-F238E27FC236}">
                <a16:creationId xmlns:a16="http://schemas.microsoft.com/office/drawing/2014/main" id="{2D0F4C43-9E57-1183-C1D3-4F1CFF68F2E6}"/>
              </a:ext>
            </a:extLst>
          </p:cNvPr>
          <p:cNvSpPr txBox="1"/>
          <p:nvPr/>
        </p:nvSpPr>
        <p:spPr>
          <a:xfrm>
            <a:off x="854015" y="1948919"/>
            <a:ext cx="10017333" cy="3785652"/>
          </a:xfrm>
          <a:prstGeom prst="rect">
            <a:avLst/>
          </a:prstGeom>
          <a:noFill/>
        </p:spPr>
        <p:txBody>
          <a:bodyPr wrap="square">
            <a:spAutoFit/>
          </a:bodyPr>
          <a:lstStyle/>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Goodfellow, I., Pouget-Abadie, J., Mirza, M., et al. (2014) </a:t>
            </a:r>
            <a:r>
              <a:rPr lang="en-US" sz="2400" dirty="0">
                <a:latin typeface="Times New Roman" panose="02020603050405020304" pitchFamily="18" charset="0"/>
                <a:cs typeface="Times New Roman" panose="02020603050405020304" pitchFamily="18" charset="0"/>
              </a:rPr>
              <a:t>– Introduced GANs for generating realistic synthetic data, widely used to improve dataset size and diversity.</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Mirza, M., &amp; </a:t>
            </a:r>
            <a:r>
              <a:rPr lang="en-US" sz="2400" b="1" dirty="0" err="1">
                <a:latin typeface="Times New Roman" panose="02020603050405020304" pitchFamily="18" charset="0"/>
                <a:cs typeface="Times New Roman" panose="02020603050405020304" pitchFamily="18" charset="0"/>
              </a:rPr>
              <a:t>Osindero</a:t>
            </a:r>
            <a:r>
              <a:rPr lang="en-US" sz="2400" b="1" dirty="0">
                <a:latin typeface="Times New Roman" panose="02020603050405020304" pitchFamily="18" charset="0"/>
                <a:cs typeface="Times New Roman" panose="02020603050405020304" pitchFamily="18" charset="0"/>
              </a:rPr>
              <a:t>, S. (2014) </a:t>
            </a:r>
            <a:r>
              <a:rPr lang="en-US" sz="2400" dirty="0">
                <a:latin typeface="Times New Roman" panose="02020603050405020304" pitchFamily="18" charset="0"/>
                <a:cs typeface="Times New Roman" panose="02020603050405020304" pitchFamily="18" charset="0"/>
              </a:rPr>
              <a:t>– Proposed </a:t>
            </a:r>
            <a:r>
              <a:rPr lang="en-US" sz="2400" dirty="0" err="1">
                <a:latin typeface="Times New Roman" panose="02020603050405020304" pitchFamily="18" charset="0"/>
                <a:cs typeface="Times New Roman" panose="02020603050405020304" pitchFamily="18" charset="0"/>
              </a:rPr>
              <a:t>cGANs</a:t>
            </a:r>
            <a:r>
              <a:rPr lang="en-US" sz="2400" dirty="0">
                <a:latin typeface="Times New Roman" panose="02020603050405020304" pitchFamily="18" charset="0"/>
                <a:cs typeface="Times New Roman" panose="02020603050405020304" pitchFamily="18" charset="0"/>
              </a:rPr>
              <a:t>, enabling controlled image generation based on class labels, useful for balancing datasets.</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Min, W., Jiang, S., Liu, L., Rui, Y., &amp; Jain, R. (2019) </a:t>
            </a:r>
            <a:r>
              <a:rPr lang="en-US" sz="2400" dirty="0">
                <a:latin typeface="Times New Roman" panose="02020603050405020304" pitchFamily="18" charset="0"/>
                <a:cs typeface="Times New Roman" panose="02020603050405020304" pitchFamily="18" charset="0"/>
              </a:rPr>
              <a:t>– Provided a survey on food computing, focusing on food recognition, retrieval, and nutrition analysis, and emphasized integrating visual data with health information.</a:t>
            </a:r>
          </a:p>
        </p:txBody>
      </p:sp>
    </p:spTree>
    <p:extLst>
      <p:ext uri="{BB962C8B-B14F-4D97-AF65-F5344CB8AC3E}">
        <p14:creationId xmlns:p14="http://schemas.microsoft.com/office/powerpoint/2010/main" val="1940073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96C79-FA4D-DB74-D4F2-905E646FFBBC}"/>
              </a:ext>
            </a:extLst>
          </p:cNvPr>
          <p:cNvSpPr>
            <a:spLocks noGrp="1"/>
          </p:cNvSpPr>
          <p:nvPr>
            <p:ph type="ctrTitle"/>
          </p:nvPr>
        </p:nvSpPr>
        <p:spPr>
          <a:xfrm>
            <a:off x="1207523" y="321352"/>
            <a:ext cx="8825658" cy="568569"/>
          </a:xfrm>
        </p:spPr>
        <p:txBody>
          <a:bodyPr/>
          <a:lstStyle/>
          <a:p>
            <a:pPr algn="ctr"/>
            <a:r>
              <a:rPr lang="en-US" sz="3600" b="1" dirty="0">
                <a:latin typeface="Times New Roman" panose="02020603050405020304" pitchFamily="18" charset="0"/>
                <a:cs typeface="Times New Roman" panose="02020603050405020304" pitchFamily="18" charset="0"/>
              </a:rPr>
              <a:t>MODULES</a:t>
            </a:r>
            <a:endParaRPr lang="en-IN"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2BB3B9F-FDAE-65F4-3D38-A97BB2D6F282}"/>
              </a:ext>
            </a:extLst>
          </p:cNvPr>
          <p:cNvSpPr txBox="1"/>
          <p:nvPr/>
        </p:nvSpPr>
        <p:spPr>
          <a:xfrm>
            <a:off x="471577" y="1518249"/>
            <a:ext cx="11248846" cy="4154984"/>
          </a:xfrm>
          <a:prstGeom prst="rect">
            <a:avLst/>
          </a:prstGeom>
          <a:noFill/>
        </p:spPr>
        <p:txBody>
          <a:bodyPr wrap="square" rtlCol="0">
            <a:spAutoFit/>
          </a:bodyPr>
          <a:lstStyle/>
          <a:p>
            <a:pPr algn="just"/>
            <a:r>
              <a:rPr lang="en-IN" sz="2400" b="1" dirty="0">
                <a:latin typeface="Times New Roman" panose="02020603050405020304" pitchFamily="18" charset="0"/>
                <a:cs typeface="Times New Roman" panose="02020603050405020304" pitchFamily="18" charset="0"/>
              </a:rPr>
              <a:t>User Management Module – </a:t>
            </a:r>
            <a:r>
              <a:rPr lang="en-IN" sz="2400" dirty="0">
                <a:latin typeface="Times New Roman" panose="02020603050405020304" pitchFamily="18" charset="0"/>
                <a:cs typeface="Times New Roman" panose="02020603050405020304" pitchFamily="18" charset="0"/>
              </a:rPr>
              <a:t>Handles </a:t>
            </a:r>
            <a:r>
              <a:rPr lang="en-IN" sz="2400">
                <a:latin typeface="Times New Roman" panose="02020603050405020304" pitchFamily="18" charset="0"/>
                <a:cs typeface="Times New Roman" panose="02020603050405020304" pitchFamily="18" charset="0"/>
              </a:rPr>
              <a:t>user authentication</a:t>
            </a:r>
          </a:p>
          <a:p>
            <a:pPr algn="just"/>
            <a:endParaRPr lang="en-IN" sz="2400" b="1"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Image Processing &amp; Recognition Module </a:t>
            </a:r>
            <a:r>
              <a:rPr lang="en-IN" sz="2400" dirty="0">
                <a:latin typeface="Times New Roman" panose="02020603050405020304" pitchFamily="18" charset="0"/>
                <a:cs typeface="Times New Roman" panose="02020603050405020304" pitchFamily="18" charset="0"/>
              </a:rPr>
              <a:t>– Performs food image upload, preprocessing, and CNN layers-based classification.</a:t>
            </a:r>
          </a:p>
          <a:p>
            <a:pPr algn="just"/>
            <a:endParaRPr lang="en-IN" sz="2400" b="1"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Synthetic Data Generation Module – </a:t>
            </a:r>
            <a:r>
              <a:rPr lang="en-IN" sz="2400" dirty="0">
                <a:latin typeface="Times New Roman" panose="02020603050405020304" pitchFamily="18" charset="0"/>
                <a:cs typeface="Times New Roman" panose="02020603050405020304" pitchFamily="18" charset="0"/>
              </a:rPr>
              <a:t>Uses CGAN to create class-balanced food images.</a:t>
            </a:r>
          </a:p>
          <a:p>
            <a:pPr algn="just"/>
            <a:endParaRPr lang="en-IN" sz="2400" b="1"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Nutrition &amp; Health Analysis Module – </a:t>
            </a:r>
            <a:r>
              <a:rPr lang="en-IN" sz="2400" dirty="0">
                <a:latin typeface="Times New Roman" panose="02020603050405020304" pitchFamily="18" charset="0"/>
                <a:cs typeface="Times New Roman" panose="02020603050405020304" pitchFamily="18" charset="0"/>
              </a:rPr>
              <a:t>Provides nutritional values and dietary recommendations.</a:t>
            </a:r>
          </a:p>
          <a:p>
            <a:pPr algn="just"/>
            <a:endParaRPr lang="en-IN" sz="2400" b="1"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Web Application Module – </a:t>
            </a:r>
            <a:r>
              <a:rPr lang="en-IN" sz="2400" dirty="0">
                <a:latin typeface="Times New Roman" panose="02020603050405020304" pitchFamily="18" charset="0"/>
                <a:cs typeface="Times New Roman" panose="02020603050405020304" pitchFamily="18" charset="0"/>
              </a:rPr>
              <a:t>Implements the Flask-based user interface and routing.</a:t>
            </a:r>
          </a:p>
        </p:txBody>
      </p:sp>
    </p:spTree>
    <p:extLst>
      <p:ext uri="{BB962C8B-B14F-4D97-AF65-F5344CB8AC3E}">
        <p14:creationId xmlns:p14="http://schemas.microsoft.com/office/powerpoint/2010/main" val="508565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569DA1-DF79-95E4-ABB5-E4BF4D92DF6C}"/>
              </a:ext>
            </a:extLst>
          </p:cNvPr>
          <p:cNvSpPr txBox="1"/>
          <p:nvPr/>
        </p:nvSpPr>
        <p:spPr>
          <a:xfrm>
            <a:off x="3486509" y="559462"/>
            <a:ext cx="5218981"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UML DIAGRAMS</a:t>
            </a:r>
          </a:p>
        </p:txBody>
      </p:sp>
      <p:sp>
        <p:nvSpPr>
          <p:cNvPr id="2" name="TextBox 1">
            <a:extLst>
              <a:ext uri="{FF2B5EF4-FFF2-40B4-BE49-F238E27FC236}">
                <a16:creationId xmlns:a16="http://schemas.microsoft.com/office/drawing/2014/main" id="{387B011E-01B9-D7F7-3E13-ACE5546EDB25}"/>
              </a:ext>
            </a:extLst>
          </p:cNvPr>
          <p:cNvSpPr txBox="1"/>
          <p:nvPr/>
        </p:nvSpPr>
        <p:spPr>
          <a:xfrm>
            <a:off x="1975523" y="1205793"/>
            <a:ext cx="7934385"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USE CASE DIAGRAM</a:t>
            </a:r>
          </a:p>
        </p:txBody>
      </p:sp>
      <p:pic>
        <p:nvPicPr>
          <p:cNvPr id="5" name="Picture 4">
            <a:extLst>
              <a:ext uri="{FF2B5EF4-FFF2-40B4-BE49-F238E27FC236}">
                <a16:creationId xmlns:a16="http://schemas.microsoft.com/office/drawing/2014/main" id="{33A35110-0154-307E-BF76-3CF5E0715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2756" y="1852123"/>
            <a:ext cx="9049108" cy="4859227"/>
          </a:xfrm>
          <a:prstGeom prst="rect">
            <a:avLst/>
          </a:prstGeom>
        </p:spPr>
      </p:pic>
    </p:spTree>
    <p:extLst>
      <p:ext uri="{BB962C8B-B14F-4D97-AF65-F5344CB8AC3E}">
        <p14:creationId xmlns:p14="http://schemas.microsoft.com/office/powerpoint/2010/main" val="2763645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8F7B12-AB33-0257-7E77-EFF1D685BF62}"/>
              </a:ext>
            </a:extLst>
          </p:cNvPr>
          <p:cNvSpPr txBox="1"/>
          <p:nvPr/>
        </p:nvSpPr>
        <p:spPr>
          <a:xfrm>
            <a:off x="1355785" y="460518"/>
            <a:ext cx="948043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C</a:t>
            </a:r>
            <a:r>
              <a:rPr lang="en-IN" sz="3600" b="1" dirty="0">
                <a:latin typeface="Times New Roman" panose="02020603050405020304" pitchFamily="18" charset="0"/>
                <a:cs typeface="Times New Roman" panose="02020603050405020304" pitchFamily="18" charset="0"/>
              </a:rPr>
              <a:t>LASS DIAGRAM</a:t>
            </a:r>
          </a:p>
        </p:txBody>
      </p:sp>
      <p:pic>
        <p:nvPicPr>
          <p:cNvPr id="5" name="Picture 4">
            <a:extLst>
              <a:ext uri="{FF2B5EF4-FFF2-40B4-BE49-F238E27FC236}">
                <a16:creationId xmlns:a16="http://schemas.microsoft.com/office/drawing/2014/main" id="{800D7ABC-B514-4470-FB2B-F955584E1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6657" y="1440611"/>
            <a:ext cx="8497018" cy="4865298"/>
          </a:xfrm>
          <a:prstGeom prst="rect">
            <a:avLst/>
          </a:prstGeom>
        </p:spPr>
      </p:pic>
    </p:spTree>
    <p:extLst>
      <p:ext uri="{BB962C8B-B14F-4D97-AF65-F5344CB8AC3E}">
        <p14:creationId xmlns:p14="http://schemas.microsoft.com/office/powerpoint/2010/main" val="94022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1B38BA-01F2-48AC-A5CB-7B24FAB78AEF}"/>
              </a:ext>
            </a:extLst>
          </p:cNvPr>
          <p:cNvSpPr txBox="1"/>
          <p:nvPr/>
        </p:nvSpPr>
        <p:spPr>
          <a:xfrm>
            <a:off x="1007079" y="237551"/>
            <a:ext cx="9861687"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SEQUENCE DIAGRAM</a:t>
            </a:r>
            <a:endParaRPr lang="en-IN" sz="36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242B56C-D932-8025-1521-6B149E3C7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732" y="1106789"/>
            <a:ext cx="8910636" cy="5483468"/>
          </a:xfrm>
          <a:prstGeom prst="rect">
            <a:avLst/>
          </a:prstGeom>
        </p:spPr>
      </p:pic>
    </p:spTree>
    <p:extLst>
      <p:ext uri="{BB962C8B-B14F-4D97-AF65-F5344CB8AC3E}">
        <p14:creationId xmlns:p14="http://schemas.microsoft.com/office/powerpoint/2010/main" val="170335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1A6848-11BF-15C7-2B8B-1000DC22D657}"/>
              </a:ext>
            </a:extLst>
          </p:cNvPr>
          <p:cNvSpPr txBox="1"/>
          <p:nvPr/>
        </p:nvSpPr>
        <p:spPr>
          <a:xfrm>
            <a:off x="2736730" y="423496"/>
            <a:ext cx="6094562"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ACTIVITY</a:t>
            </a:r>
            <a:r>
              <a:rPr lang="en-IN" sz="3600" b="1" dirty="0">
                <a:latin typeface="Times New Roman" panose="02020603050405020304" pitchFamily="18" charset="0"/>
                <a:cs typeface="Times New Roman" panose="02020603050405020304" pitchFamily="18" charset="0"/>
              </a:rPr>
              <a:t> DIAGRAM</a:t>
            </a:r>
          </a:p>
        </p:txBody>
      </p:sp>
      <p:pic>
        <p:nvPicPr>
          <p:cNvPr id="4" name="Picture 3">
            <a:extLst>
              <a:ext uri="{FF2B5EF4-FFF2-40B4-BE49-F238E27FC236}">
                <a16:creationId xmlns:a16="http://schemas.microsoft.com/office/drawing/2014/main" id="{BCDD65B2-5D15-DAC7-2447-16FFC7645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6730" y="1271954"/>
            <a:ext cx="5975949" cy="5162550"/>
          </a:xfrm>
          <a:prstGeom prst="rect">
            <a:avLst/>
          </a:prstGeom>
        </p:spPr>
      </p:pic>
    </p:spTree>
    <p:extLst>
      <p:ext uri="{BB962C8B-B14F-4D97-AF65-F5344CB8AC3E}">
        <p14:creationId xmlns:p14="http://schemas.microsoft.com/office/powerpoint/2010/main" val="2491922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EF7C7D-D76F-01F0-A75A-0D6229A2EDD6}"/>
              </a:ext>
            </a:extLst>
          </p:cNvPr>
          <p:cNvSpPr txBox="1"/>
          <p:nvPr/>
        </p:nvSpPr>
        <p:spPr>
          <a:xfrm>
            <a:off x="718131" y="405294"/>
            <a:ext cx="10551654"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SOFTWARE AND HARDWARE REQUIREMENTS</a:t>
            </a:r>
          </a:p>
        </p:txBody>
      </p:sp>
      <p:sp>
        <p:nvSpPr>
          <p:cNvPr id="4" name="TextBox 3">
            <a:extLst>
              <a:ext uri="{FF2B5EF4-FFF2-40B4-BE49-F238E27FC236}">
                <a16:creationId xmlns:a16="http://schemas.microsoft.com/office/drawing/2014/main" id="{BBACBF16-6A67-BCD8-4993-50C1D72B7861}"/>
              </a:ext>
            </a:extLst>
          </p:cNvPr>
          <p:cNvSpPr txBox="1"/>
          <p:nvPr/>
        </p:nvSpPr>
        <p:spPr>
          <a:xfrm>
            <a:off x="1382364" y="2133304"/>
            <a:ext cx="5900467" cy="2739211"/>
          </a:xfrm>
          <a:prstGeom prst="rect">
            <a:avLst/>
          </a:prstGeom>
          <a:noFill/>
        </p:spPr>
        <p:txBody>
          <a:bodyPr wrap="square">
            <a:spAutoFit/>
          </a:bodyPr>
          <a:lstStyle/>
          <a:p>
            <a:pPr>
              <a:buNone/>
            </a:pPr>
            <a:r>
              <a:rPr lang="en-IN" sz="2800" b="1" dirty="0">
                <a:latin typeface="Times New Roman" panose="02020603050405020304" pitchFamily="18" charset="0"/>
                <a:cs typeface="Times New Roman" panose="02020603050405020304" pitchFamily="18" charset="0"/>
              </a:rPr>
              <a:t>Software Requirements</a:t>
            </a:r>
          </a:p>
          <a:p>
            <a:pPr>
              <a:buNone/>
            </a:pPr>
            <a:r>
              <a:rPr lang="en-IN" sz="2400" b="1"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Anaconda Navigator</a:t>
            </a:r>
          </a:p>
          <a:p>
            <a:pPr marL="34290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Jupyter</a:t>
            </a:r>
            <a:r>
              <a:rPr lang="en-IN" sz="2400" dirty="0">
                <a:latin typeface="Times New Roman" panose="02020603050405020304" pitchFamily="18" charset="0"/>
                <a:cs typeface="Times New Roman" panose="02020603050405020304" pitchFamily="18" charset="0"/>
              </a:rPr>
              <a:t> Notebook</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VS Code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Flask</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5042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C57504-7827-A94A-21D8-1BEA83ADFC81}"/>
              </a:ext>
            </a:extLst>
          </p:cNvPr>
          <p:cNvSpPr txBox="1"/>
          <p:nvPr/>
        </p:nvSpPr>
        <p:spPr>
          <a:xfrm>
            <a:off x="1587261" y="2078966"/>
            <a:ext cx="7632220" cy="2369880"/>
          </a:xfrm>
          <a:prstGeom prst="rect">
            <a:avLst/>
          </a:prstGeom>
          <a:noFill/>
        </p:spPr>
        <p:txBody>
          <a:bodyPr wrap="square">
            <a:spAutoFit/>
          </a:bodyPr>
          <a:lstStyle/>
          <a:p>
            <a:pPr algn="just">
              <a:buNone/>
            </a:pPr>
            <a:r>
              <a:rPr lang="en-IN" sz="2800" b="1" dirty="0">
                <a:latin typeface="Times New Roman" panose="02020603050405020304" pitchFamily="18" charset="0"/>
                <a:cs typeface="Times New Roman" panose="02020603050405020304" pitchFamily="18" charset="0"/>
              </a:rPr>
              <a:t>Hardware Requirements</a:t>
            </a:r>
          </a:p>
          <a:p>
            <a:pPr algn="just">
              <a:buNone/>
            </a:pPr>
            <a:endParaRPr lang="en-IN" sz="2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Processor</a:t>
            </a:r>
            <a:r>
              <a:rPr lang="en-IN" sz="2400" dirty="0">
                <a:latin typeface="Times New Roman" panose="02020603050405020304" pitchFamily="18" charset="0"/>
                <a:cs typeface="Times New Roman" panose="02020603050405020304" pitchFamily="18" charset="0"/>
              </a:rPr>
              <a:t>: Intel i3 / i5 (or equivalent)</a:t>
            </a:r>
          </a:p>
          <a:p>
            <a:pPr marL="85725" indent="-85725">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RAM</a:t>
            </a:r>
            <a:r>
              <a:rPr lang="en-IN" sz="2400" dirty="0">
                <a:latin typeface="Times New Roman" panose="02020603050405020304" pitchFamily="18" charset="0"/>
                <a:cs typeface="Times New Roman" panose="02020603050405020304" pitchFamily="18" charset="0"/>
              </a:rPr>
              <a:t>:4 GB or 8GB RAM</a:t>
            </a:r>
          </a:p>
          <a:p>
            <a:pPr marL="85725" indent="-85725">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Other</a:t>
            </a:r>
            <a:r>
              <a:rPr lang="en-IN" sz="2400" dirty="0">
                <a:latin typeface="Times New Roman" panose="02020603050405020304" pitchFamily="18" charset="0"/>
                <a:cs typeface="Times New Roman" panose="02020603050405020304" pitchFamily="18" charset="0"/>
              </a:rPr>
              <a:t>: Stable internet connection (for dataset retrieval &amp; web app deployment)</a:t>
            </a:r>
          </a:p>
        </p:txBody>
      </p:sp>
    </p:spTree>
    <p:extLst>
      <p:ext uri="{BB962C8B-B14F-4D97-AF65-F5344CB8AC3E}">
        <p14:creationId xmlns:p14="http://schemas.microsoft.com/office/powerpoint/2010/main" val="2937646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E2A86-6576-1B26-F8E0-ADCEAC45CD86}"/>
              </a:ext>
            </a:extLst>
          </p:cNvPr>
          <p:cNvSpPr>
            <a:spLocks noGrp="1"/>
          </p:cNvSpPr>
          <p:nvPr>
            <p:ph type="ctrTitle"/>
          </p:nvPr>
        </p:nvSpPr>
        <p:spPr>
          <a:xfrm>
            <a:off x="4344837" y="547680"/>
            <a:ext cx="3502325" cy="632820"/>
          </a:xfrm>
        </p:spPr>
        <p:txBody>
          <a:bodyPr/>
          <a:lstStyle/>
          <a:p>
            <a:pPr algn="ctr"/>
            <a:r>
              <a:rPr lang="en-IN" sz="3600" b="1" dirty="0">
                <a:latin typeface="Times New Roman" panose="02020603050405020304" pitchFamily="18" charset="0"/>
                <a:cs typeface="Times New Roman" panose="02020603050405020304" pitchFamily="18" charset="0"/>
              </a:rPr>
              <a:t>ALGORITHMS</a:t>
            </a:r>
          </a:p>
        </p:txBody>
      </p:sp>
      <p:sp>
        <p:nvSpPr>
          <p:cNvPr id="3" name="Rectangle 1">
            <a:extLst>
              <a:ext uri="{FF2B5EF4-FFF2-40B4-BE49-F238E27FC236}">
                <a16:creationId xmlns:a16="http://schemas.microsoft.com/office/drawing/2014/main" id="{7A23D50D-DB72-6618-37BC-D74AEF42619C}"/>
              </a:ext>
            </a:extLst>
          </p:cNvPr>
          <p:cNvSpPr>
            <a:spLocks noGrp="1" noChangeArrowheads="1"/>
          </p:cNvSpPr>
          <p:nvPr>
            <p:ph type="subTitle" idx="1"/>
          </p:nvPr>
        </p:nvSpPr>
        <p:spPr bwMode="auto">
          <a:xfrm>
            <a:off x="626853" y="1786005"/>
            <a:ext cx="1121434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Conditional Generative Adversarial Networks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cGAN</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for generating class-balanced synthetic food images.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400" cap="none" dirty="0">
              <a:solidFill>
                <a:schemeClr val="tx1"/>
              </a:solidFill>
              <a:latin typeface="Times New Roman" panose="02020603050405020304" pitchFamily="18" charset="0"/>
              <a:cs typeface="Times New Roman" panose="02020603050405020304" pitchFamily="18" charset="0"/>
            </a:endParaRPr>
          </a:p>
          <a:p>
            <a:pPr marL="342900" lvl="0" indent="-342900" algn="just" defTabSz="914400" eaLnBrk="0" fontAlgn="base" hangingPunct="0">
              <a:spcBef>
                <a:spcPct val="0"/>
              </a:spcBef>
              <a:spcAft>
                <a:spcPct val="0"/>
              </a:spcAft>
              <a:buClrTx/>
              <a:buSzTx/>
              <a:buFont typeface="Arial" panose="020B0604020202020204" pitchFamily="34" charset="0"/>
              <a:buChar char="•"/>
            </a:pPr>
            <a:r>
              <a:rPr lang="en-US" altLang="en-US" sz="2400" cap="none" dirty="0">
                <a:solidFill>
                  <a:schemeClr val="tx1"/>
                </a:solidFill>
                <a:latin typeface="Times New Roman" panose="02020603050405020304" pitchFamily="18" charset="0"/>
                <a:cs typeface="Times New Roman" panose="02020603050405020304" pitchFamily="18" charset="0"/>
              </a:rPr>
              <a:t>The generator network learns complex food textures, shapes, and colors, producing realistic images that closely resemble real food samples.</a:t>
            </a:r>
          </a:p>
          <a:p>
            <a:pPr marL="342900" lvl="0" indent="-342900" algn="just" defTabSz="914400" eaLnBrk="0" fontAlgn="base" hangingPunct="0">
              <a:spcBef>
                <a:spcPct val="0"/>
              </a:spcBef>
              <a:spcAft>
                <a:spcPct val="0"/>
              </a:spcAft>
              <a:buClrTx/>
              <a:buSzTx/>
              <a:buFont typeface="Arial" panose="020B0604020202020204" pitchFamily="34" charset="0"/>
              <a:buChar char="•"/>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discriminator distinguishes between real and generated images, improving dataset diversity.</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address class imbalance and improves deep learning model accuracy.</a:t>
            </a:r>
          </a:p>
          <a:p>
            <a:pPr marR="0" lvl="0" algn="just" defTabSz="914400" rtl="0" eaLnBrk="0" fontAlgn="base" latinLnBrk="0" hangingPunct="0">
              <a:lnSpc>
                <a:spcPct val="100000"/>
              </a:lnSpc>
              <a:spcBef>
                <a:spcPct val="0"/>
              </a:spcBef>
              <a:spcAft>
                <a:spcPct val="0"/>
              </a:spcAft>
              <a:buClrTx/>
              <a:buSzTx/>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4786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4C486-5850-EF8B-ACE0-E9C88B09CF91}"/>
              </a:ext>
            </a:extLst>
          </p:cNvPr>
          <p:cNvSpPr txBox="1"/>
          <p:nvPr/>
        </p:nvSpPr>
        <p:spPr>
          <a:xfrm>
            <a:off x="2837132" y="490448"/>
            <a:ext cx="6517736" cy="1015663"/>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IMPLEMENTATION</a:t>
            </a:r>
            <a:r>
              <a:rPr lang="en-IN" sz="3600" dirty="0">
                <a:latin typeface="Times New Roman" panose="02020603050405020304" pitchFamily="18" charset="0"/>
                <a:cs typeface="Times New Roman" panose="02020603050405020304" pitchFamily="18" charset="0"/>
              </a:rPr>
              <a:t> </a:t>
            </a:r>
          </a:p>
          <a:p>
            <a:pPr algn="ctr"/>
            <a:r>
              <a:rPr lang="en-IN" sz="2400" b="1" dirty="0">
                <a:latin typeface="Times New Roman" panose="02020603050405020304" pitchFamily="18" charset="0"/>
                <a:cs typeface="Times New Roman" panose="02020603050405020304" pitchFamily="18" charset="0"/>
              </a:rPr>
              <a:t>SAMPLE CODE</a:t>
            </a:r>
          </a:p>
        </p:txBody>
      </p:sp>
      <p:sp>
        <p:nvSpPr>
          <p:cNvPr id="9" name="TextBox 8">
            <a:extLst>
              <a:ext uri="{FF2B5EF4-FFF2-40B4-BE49-F238E27FC236}">
                <a16:creationId xmlns:a16="http://schemas.microsoft.com/office/drawing/2014/main" id="{BE5DE57E-4986-2A78-47BC-597DC8D039F9}"/>
              </a:ext>
            </a:extLst>
          </p:cNvPr>
          <p:cNvSpPr txBox="1"/>
          <p:nvPr/>
        </p:nvSpPr>
        <p:spPr>
          <a:xfrm>
            <a:off x="310551" y="1506111"/>
            <a:ext cx="5417389" cy="563231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from flask import Flask, request, </a:t>
            </a:r>
            <a:r>
              <a:rPr lang="en-IN" dirty="0" err="1">
                <a:latin typeface="Times New Roman" panose="02020603050405020304" pitchFamily="18" charset="0"/>
                <a:cs typeface="Times New Roman" panose="02020603050405020304" pitchFamily="18" charset="0"/>
              </a:rPr>
              <a:t>render_template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import torch, </a:t>
            </a:r>
            <a:r>
              <a:rPr lang="en-IN" dirty="0" err="1">
                <a:latin typeface="Times New Roman" panose="02020603050405020304" pitchFamily="18" charset="0"/>
                <a:cs typeface="Times New Roman" panose="02020603050405020304" pitchFamily="18" charset="0"/>
              </a:rPr>
              <a:t>torch.nn</a:t>
            </a:r>
            <a:r>
              <a:rPr lang="en-IN" dirty="0">
                <a:latin typeface="Times New Roman" panose="02020603050405020304" pitchFamily="18" charset="0"/>
                <a:cs typeface="Times New Roman" panose="02020603050405020304" pitchFamily="18" charset="0"/>
              </a:rPr>
              <a:t> as </a:t>
            </a:r>
            <a:r>
              <a:rPr lang="en-IN" dirty="0" err="1">
                <a:latin typeface="Times New Roman" panose="02020603050405020304" pitchFamily="18" charset="0"/>
                <a:cs typeface="Times New Roman" panose="02020603050405020304" pitchFamily="18" charset="0"/>
              </a:rPr>
              <a:t>nn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torchvision</a:t>
            </a:r>
            <a:r>
              <a:rPr lang="en-IN" dirty="0">
                <a:latin typeface="Times New Roman" panose="02020603050405020304" pitchFamily="18" charset="0"/>
                <a:cs typeface="Times New Roman" panose="02020603050405020304" pitchFamily="18" charset="0"/>
              </a:rPr>
              <a:t> import transforms</a:t>
            </a:r>
          </a:p>
          <a:p>
            <a:r>
              <a:rPr lang="en-IN" dirty="0">
                <a:latin typeface="Times New Roman" panose="02020603050405020304" pitchFamily="18" charset="0"/>
                <a:cs typeface="Times New Roman" panose="02020603050405020304" pitchFamily="18" charset="0"/>
              </a:rPr>
              <a:t>from PIL import Image</a:t>
            </a: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os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app = Flask(__name__)</a:t>
            </a:r>
          </a:p>
          <a:p>
            <a:r>
              <a:rPr lang="en-IN" dirty="0">
                <a:latin typeface="Times New Roman" panose="02020603050405020304" pitchFamily="18" charset="0"/>
                <a:cs typeface="Times New Roman" panose="02020603050405020304" pitchFamily="18" charset="0"/>
              </a:rPr>
              <a:t># Image preprocessing</a:t>
            </a:r>
          </a:p>
          <a:p>
            <a:r>
              <a:rPr lang="en-IN" dirty="0">
                <a:latin typeface="Times New Roman" panose="02020603050405020304" pitchFamily="18" charset="0"/>
                <a:cs typeface="Times New Roman" panose="02020603050405020304" pitchFamily="18" charset="0"/>
              </a:rPr>
              <a:t>transform = </a:t>
            </a:r>
            <a:r>
              <a:rPr lang="en-IN" dirty="0" err="1">
                <a:latin typeface="Times New Roman" panose="02020603050405020304" pitchFamily="18" charset="0"/>
                <a:cs typeface="Times New Roman" panose="02020603050405020304" pitchFamily="18" charset="0"/>
              </a:rPr>
              <a:t>transforms.Compose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transforms.Resize</a:t>
            </a:r>
            <a:r>
              <a:rPr lang="en-IN" dirty="0">
                <a:latin typeface="Times New Roman" panose="02020603050405020304" pitchFamily="18" charset="0"/>
                <a:cs typeface="Times New Roman" panose="02020603050405020304" pitchFamily="18" charset="0"/>
              </a:rPr>
              <a:t>((150,150)),</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transforms.ToTensor</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class FoodCNN(</a:t>
            </a:r>
            <a:r>
              <a:rPr lang="en-IN" dirty="0" err="1">
                <a:latin typeface="Times New Roman" panose="02020603050405020304" pitchFamily="18" charset="0"/>
                <a:cs typeface="Times New Roman" panose="02020603050405020304" pitchFamily="18" charset="0"/>
              </a:rPr>
              <a:t>nn.Module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def __</a:t>
            </a:r>
            <a:r>
              <a:rPr lang="en-IN" dirty="0" err="1">
                <a:latin typeface="Times New Roman" panose="02020603050405020304" pitchFamily="18" charset="0"/>
                <a:cs typeface="Times New Roman" panose="02020603050405020304" pitchFamily="18" charset="0"/>
              </a:rPr>
              <a:t>init</a:t>
            </a:r>
            <a:r>
              <a:rPr lang="en-IN" dirty="0">
                <a:latin typeface="Times New Roman" panose="02020603050405020304" pitchFamily="18" charset="0"/>
                <a:cs typeface="Times New Roman" panose="02020603050405020304" pitchFamily="18" charset="0"/>
              </a:rPr>
              <a:t>__(self, n):</a:t>
            </a:r>
          </a:p>
          <a:p>
            <a:r>
              <a:rPr lang="en-IN" dirty="0">
                <a:latin typeface="Times New Roman" panose="02020603050405020304" pitchFamily="18" charset="0"/>
                <a:cs typeface="Times New Roman" panose="02020603050405020304" pitchFamily="18" charset="0"/>
              </a:rPr>
              <a:t>        super().__</a:t>
            </a:r>
            <a:r>
              <a:rPr lang="en-IN" dirty="0" err="1">
                <a:latin typeface="Times New Roman" panose="02020603050405020304" pitchFamily="18" charset="0"/>
                <a:cs typeface="Times New Roman" panose="02020603050405020304" pitchFamily="18" charset="0"/>
              </a:rPr>
              <a:t>init</a:t>
            </a:r>
            <a:r>
              <a:rPr lang="en-IN" dirty="0">
                <a:latin typeface="Times New Roman" panose="02020603050405020304" pitchFamily="18" charset="0"/>
                <a:cs typeface="Times New Roman" panose="02020603050405020304" pitchFamily="18" charset="0"/>
              </a:rPr>
              <a:t>__()</a:t>
            </a:r>
          </a:p>
          <a:p>
            <a:r>
              <a:rPr lang="en-IN" dirty="0">
                <a:latin typeface="Times New Roman" panose="02020603050405020304" pitchFamily="18" charset="0"/>
                <a:cs typeface="Times New Roman" panose="02020603050405020304" pitchFamily="18" charset="0"/>
              </a:rPr>
              <a:t>        self.net = </a:t>
            </a:r>
            <a:r>
              <a:rPr lang="en-IN" dirty="0" err="1">
                <a:latin typeface="Times New Roman" panose="02020603050405020304" pitchFamily="18" charset="0"/>
                <a:cs typeface="Times New Roman" panose="02020603050405020304" pitchFamily="18" charset="0"/>
              </a:rPr>
              <a:t>nn.Sequential</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nn.Conv2d(3,32,3,padding=1), </a:t>
            </a:r>
            <a:r>
              <a:rPr lang="en-IN" dirty="0" err="1">
                <a:latin typeface="Times New Roman" panose="02020603050405020304" pitchFamily="18" charset="0"/>
                <a:cs typeface="Times New Roman" panose="02020603050405020304" pitchFamily="18" charset="0"/>
              </a:rPr>
              <a:t>nn.ReLU</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nn.MaxPool2d(2),</a:t>
            </a:r>
          </a:p>
          <a:p>
            <a:r>
              <a:rPr lang="en-IN" dirty="0">
                <a:latin typeface="Times New Roman" panose="02020603050405020304" pitchFamily="18" charset="0"/>
                <a:cs typeface="Times New Roman" panose="02020603050405020304" pitchFamily="18" charset="0"/>
              </a:rPr>
              <a:t>            nn.Conv2d(32,64,3,padding=1), </a:t>
            </a:r>
            <a:r>
              <a:rPr lang="en-IN" dirty="0" err="1">
                <a:latin typeface="Times New Roman" panose="02020603050405020304" pitchFamily="18" charset="0"/>
                <a:cs typeface="Times New Roman" panose="02020603050405020304" pitchFamily="18" charset="0"/>
              </a:rPr>
              <a:t>nn.ReLU</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nn.MaxPool2d(2),</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nn.Flatten</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DACC568D-BAFA-AB20-D25D-3F3B5083BA53}"/>
              </a:ext>
            </a:extLst>
          </p:cNvPr>
          <p:cNvSpPr txBox="1"/>
          <p:nvPr/>
        </p:nvSpPr>
        <p:spPr>
          <a:xfrm>
            <a:off x="5822830" y="1506111"/>
            <a:ext cx="5788325" cy="5078313"/>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nn.Linear</a:t>
            </a:r>
            <a:r>
              <a:rPr lang="en-IN" dirty="0">
                <a:latin typeface="Times New Roman" panose="02020603050405020304" pitchFamily="18" charset="0"/>
                <a:cs typeface="Times New Roman" panose="02020603050405020304" pitchFamily="18" charset="0"/>
              </a:rPr>
              <a:t>(64*37*37,128), </a:t>
            </a:r>
            <a:r>
              <a:rPr lang="en-IN" dirty="0" err="1">
                <a:latin typeface="Times New Roman" panose="02020603050405020304" pitchFamily="18" charset="0"/>
                <a:cs typeface="Times New Roman" panose="02020603050405020304" pitchFamily="18" charset="0"/>
              </a:rPr>
              <a:t>nn.ReLU</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nn.Linear</a:t>
            </a:r>
            <a:r>
              <a:rPr lang="en-IN" dirty="0">
                <a:latin typeface="Times New Roman" panose="02020603050405020304" pitchFamily="18" charset="0"/>
                <a:cs typeface="Times New Roman" panose="02020603050405020304" pitchFamily="18" charset="0"/>
              </a:rPr>
              <a:t>(128,n)</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def forward(</a:t>
            </a:r>
            <a:r>
              <a:rPr lang="en-IN" dirty="0" err="1">
                <a:latin typeface="Times New Roman" panose="02020603050405020304" pitchFamily="18" charset="0"/>
                <a:cs typeface="Times New Roman" panose="02020603050405020304" pitchFamily="18" charset="0"/>
              </a:rPr>
              <a:t>self,x</a:t>
            </a:r>
            <a:r>
              <a:rPr lang="en-IN" dirty="0">
                <a:latin typeface="Times New Roman" panose="02020603050405020304" pitchFamily="18" charset="0"/>
                <a:cs typeface="Times New Roman" panose="02020603050405020304" pitchFamily="18" charset="0"/>
              </a:rPr>
              <a:t>): return self.net(x)</a:t>
            </a:r>
          </a:p>
          <a:p>
            <a:r>
              <a:rPr lang="en-IN" dirty="0">
                <a:latin typeface="Times New Roman" panose="02020603050405020304" pitchFamily="18" charset="0"/>
                <a:cs typeface="Times New Roman" panose="02020603050405020304" pitchFamily="18" charset="0"/>
              </a:rPr>
              <a:t># Load model</a:t>
            </a:r>
          </a:p>
          <a:p>
            <a:r>
              <a:rPr lang="en-IN" dirty="0">
                <a:latin typeface="Times New Roman" panose="02020603050405020304" pitchFamily="18" charset="0"/>
                <a:cs typeface="Times New Roman" panose="02020603050405020304" pitchFamily="18" charset="0"/>
              </a:rPr>
              <a:t>classes = ['</a:t>
            </a:r>
            <a:r>
              <a:rPr lang="en-IN" dirty="0" err="1">
                <a:latin typeface="Times New Roman" panose="02020603050405020304" pitchFamily="18" charset="0"/>
                <a:cs typeface="Times New Roman" panose="02020603050405020304" pitchFamily="18" charset="0"/>
              </a:rPr>
              <a:t>corn','fried_rice','jalebi','mango','orange','watermelon</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model = FoodCNN(</a:t>
            </a:r>
            <a:r>
              <a:rPr lang="en-IN" dirty="0" err="1">
                <a:latin typeface="Times New Roman" panose="02020603050405020304" pitchFamily="18" charset="0"/>
                <a:cs typeface="Times New Roman" panose="02020603050405020304" pitchFamily="18" charset="0"/>
              </a:rPr>
              <a:t>len</a:t>
            </a:r>
            <a:r>
              <a:rPr lang="en-IN" dirty="0">
                <a:latin typeface="Times New Roman" panose="02020603050405020304" pitchFamily="18" charset="0"/>
                <a:cs typeface="Times New Roman" panose="02020603050405020304" pitchFamily="18" charset="0"/>
              </a:rPr>
              <a:t>(classes))</a:t>
            </a:r>
          </a:p>
          <a:p>
            <a:r>
              <a:rPr lang="en-IN" dirty="0" err="1">
                <a:latin typeface="Times New Roman" panose="02020603050405020304" pitchFamily="18" charset="0"/>
                <a:cs typeface="Times New Roman" panose="02020603050405020304" pitchFamily="18" charset="0"/>
              </a:rPr>
              <a:t>model.load_state_dict</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torch.load</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classifier.pth</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map_location</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cpu</a:t>
            </a:r>
            <a:r>
              <a:rPr lang="en-IN" dirty="0">
                <a:latin typeface="Times New Roman" panose="02020603050405020304" pitchFamily="18" charset="0"/>
                <a:cs typeface="Times New Roman" panose="02020603050405020304" pitchFamily="18" charset="0"/>
              </a:rPr>
              <a:t>"))</a:t>
            </a:r>
          </a:p>
          <a:p>
            <a:r>
              <a:rPr lang="en-IN" dirty="0" err="1">
                <a:latin typeface="Times New Roman" panose="02020603050405020304" pitchFamily="18" charset="0"/>
                <a:cs typeface="Times New Roman" panose="02020603050405020304" pitchFamily="18" charset="0"/>
              </a:rPr>
              <a:t>model.eval</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Nutrition mapping (short)</a:t>
            </a:r>
          </a:p>
          <a:p>
            <a:r>
              <a:rPr lang="en-IN" dirty="0">
                <a:latin typeface="Times New Roman" panose="02020603050405020304" pitchFamily="18" charset="0"/>
                <a:cs typeface="Times New Roman" panose="02020603050405020304" pitchFamily="18" charset="0"/>
              </a:rPr>
              <a:t>nutrition =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biryani":"High</a:t>
            </a:r>
            <a:r>
              <a:rPr lang="en-IN" dirty="0">
                <a:latin typeface="Times New Roman" panose="02020603050405020304" pitchFamily="18" charset="0"/>
                <a:cs typeface="Times New Roman" panose="02020603050405020304" pitchFamily="18" charset="0"/>
              </a:rPr>
              <a:t> calories",</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chapati":"Healthy</a:t>
            </a:r>
            <a:r>
              <a:rPr lang="en-IN" dirty="0">
                <a:latin typeface="Times New Roman" panose="02020603050405020304" pitchFamily="18" charset="0"/>
                <a:cs typeface="Times New Roman" panose="02020603050405020304" pitchFamily="18" charset="0"/>
              </a:rPr>
              <a:t> food",</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jalebi":"High</a:t>
            </a:r>
            <a:r>
              <a:rPr lang="en-IN" dirty="0">
                <a:latin typeface="Times New Roman" panose="02020603050405020304" pitchFamily="18" charset="0"/>
                <a:cs typeface="Times New Roman" panose="02020603050405020304" pitchFamily="18" charset="0"/>
              </a:rPr>
              <a:t> sugar",</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watermelon":"Low</a:t>
            </a:r>
            <a:r>
              <a:rPr lang="en-IN" dirty="0">
                <a:latin typeface="Times New Roman" panose="02020603050405020304" pitchFamily="18" charset="0"/>
                <a:cs typeface="Times New Roman" panose="02020603050405020304" pitchFamily="18" charset="0"/>
              </a:rPr>
              <a:t> calorie"</a:t>
            </a:r>
          </a:p>
          <a:p>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60460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7F0DE85-A9EB-7751-0666-8277D4B4100D}"/>
              </a:ext>
            </a:extLst>
          </p:cNvPr>
          <p:cNvSpPr txBox="1"/>
          <p:nvPr/>
        </p:nvSpPr>
        <p:spPr>
          <a:xfrm>
            <a:off x="493863" y="976107"/>
            <a:ext cx="5734409" cy="6186309"/>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users = {}</a:t>
            </a:r>
          </a:p>
          <a:p>
            <a:r>
              <a:rPr lang="en-IN" dirty="0">
                <a:latin typeface="Times New Roman" panose="02020603050405020304" pitchFamily="18" charset="0"/>
                <a:cs typeface="Times New Roman" panose="02020603050405020304" pitchFamily="18" charset="0"/>
              </a:rPr>
              <a:t>@app.route('/', methods=['GET', 'POST'])</a:t>
            </a:r>
          </a:p>
          <a:p>
            <a:r>
              <a:rPr lang="en-IN" dirty="0">
                <a:latin typeface="Times New Roman" panose="02020603050405020304" pitchFamily="18" charset="0"/>
                <a:cs typeface="Times New Roman" panose="02020603050405020304" pitchFamily="18" charset="0"/>
              </a:rPr>
              <a:t>def </a:t>
            </a:r>
            <a:r>
              <a:rPr lang="en-IN" dirty="0" err="1">
                <a:latin typeface="Times New Roman" panose="02020603050405020304" pitchFamily="18" charset="0"/>
                <a:cs typeface="Times New Roman" panose="02020603050405020304" pitchFamily="18" charset="0"/>
              </a:rPr>
              <a:t>signin</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if </a:t>
            </a:r>
            <a:r>
              <a:rPr lang="en-IN" dirty="0" err="1">
                <a:latin typeface="Times New Roman" panose="02020603050405020304" pitchFamily="18" charset="0"/>
                <a:cs typeface="Times New Roman" panose="02020603050405020304" pitchFamily="18" charset="0"/>
              </a:rPr>
              <a:t>request.method</a:t>
            </a:r>
            <a:r>
              <a:rPr lang="en-IN" dirty="0">
                <a:latin typeface="Times New Roman" panose="02020603050405020304" pitchFamily="18" charset="0"/>
                <a:cs typeface="Times New Roman" panose="02020603050405020304" pitchFamily="18" charset="0"/>
              </a:rPr>
              <a:t> == 'POST':</a:t>
            </a:r>
          </a:p>
          <a:p>
            <a:r>
              <a:rPr lang="en-IN" dirty="0">
                <a:latin typeface="Times New Roman" panose="02020603050405020304" pitchFamily="18" charset="0"/>
                <a:cs typeface="Times New Roman" panose="02020603050405020304" pitchFamily="18" charset="0"/>
              </a:rPr>
              <a:t>users[</a:t>
            </a:r>
            <a:r>
              <a:rPr lang="en-IN" dirty="0" err="1">
                <a:latin typeface="Times New Roman" panose="02020603050405020304" pitchFamily="18" charset="0"/>
                <a:cs typeface="Times New Roman" panose="02020603050405020304" pitchFamily="18" charset="0"/>
              </a:rPr>
              <a:t>request.form</a:t>
            </a:r>
            <a:r>
              <a:rPr lang="en-IN" dirty="0">
                <a:latin typeface="Times New Roman" panose="02020603050405020304" pitchFamily="18" charset="0"/>
                <a:cs typeface="Times New Roman" panose="02020603050405020304" pitchFamily="18" charset="0"/>
              </a:rPr>
              <a:t>['username']] = </a:t>
            </a:r>
            <a:r>
              <a:rPr lang="en-IN" dirty="0" err="1">
                <a:latin typeface="Times New Roman" panose="02020603050405020304" pitchFamily="18" charset="0"/>
                <a:cs typeface="Times New Roman" panose="02020603050405020304" pitchFamily="18" charset="0"/>
              </a:rPr>
              <a:t>request.form</a:t>
            </a:r>
            <a:r>
              <a:rPr lang="en-IN" dirty="0">
                <a:latin typeface="Times New Roman" panose="02020603050405020304" pitchFamily="18" charset="0"/>
                <a:cs typeface="Times New Roman" panose="02020603050405020304" pitchFamily="18" charset="0"/>
              </a:rPr>
              <a:t>['password']</a:t>
            </a:r>
          </a:p>
          <a:p>
            <a:r>
              <a:rPr lang="en-IN" dirty="0">
                <a:latin typeface="Times New Roman" panose="02020603050405020304" pitchFamily="18" charset="0"/>
                <a:cs typeface="Times New Roman" panose="02020603050405020304" pitchFamily="18" charset="0"/>
              </a:rPr>
              <a:t>session['username'] = </a:t>
            </a:r>
            <a:r>
              <a:rPr lang="en-IN" dirty="0" err="1">
                <a:latin typeface="Times New Roman" panose="02020603050405020304" pitchFamily="18" charset="0"/>
                <a:cs typeface="Times New Roman" panose="02020603050405020304" pitchFamily="18" charset="0"/>
              </a:rPr>
              <a:t>request.form</a:t>
            </a:r>
            <a:r>
              <a:rPr lang="en-IN" dirty="0">
                <a:latin typeface="Times New Roman" panose="02020603050405020304" pitchFamily="18" charset="0"/>
                <a:cs typeface="Times New Roman" panose="02020603050405020304" pitchFamily="18" charset="0"/>
              </a:rPr>
              <a:t>['username']</a:t>
            </a:r>
          </a:p>
          <a:p>
            <a:r>
              <a:rPr lang="en-IN" dirty="0">
                <a:latin typeface="Times New Roman" panose="02020603050405020304" pitchFamily="18" charset="0"/>
                <a:cs typeface="Times New Roman" panose="02020603050405020304" pitchFamily="18" charset="0"/>
              </a:rPr>
              <a:t>return redirect('/home')</a:t>
            </a:r>
          </a:p>
          <a:p>
            <a:r>
              <a:rPr lang="en-IN" dirty="0">
                <a:latin typeface="Times New Roman" panose="02020603050405020304" pitchFamily="18" charset="0"/>
                <a:cs typeface="Times New Roman" panose="02020603050405020304" pitchFamily="18" charset="0"/>
              </a:rPr>
              <a:t>return </a:t>
            </a:r>
            <a:r>
              <a:rPr lang="en-IN" dirty="0" err="1">
                <a:latin typeface="Times New Roman" panose="02020603050405020304" pitchFamily="18" charset="0"/>
                <a:cs typeface="Times New Roman" panose="02020603050405020304" pitchFamily="18" charset="0"/>
              </a:rPr>
              <a:t>render_template</a:t>
            </a:r>
            <a:r>
              <a:rPr lang="en-IN" dirty="0">
                <a:latin typeface="Times New Roman" panose="02020603050405020304" pitchFamily="18" charset="0"/>
                <a:cs typeface="Times New Roman" panose="02020603050405020304" pitchFamily="18" charset="0"/>
              </a:rPr>
              <a:t>('signin.html')</a:t>
            </a:r>
          </a:p>
          <a:p>
            <a:r>
              <a:rPr lang="en-IN" dirty="0">
                <a:latin typeface="Times New Roman" panose="02020603050405020304" pitchFamily="18" charset="0"/>
                <a:cs typeface="Times New Roman" panose="02020603050405020304" pitchFamily="18" charset="0"/>
              </a:rPr>
              <a:t>@app.route('/signup', methods=['GET', 'POST'])</a:t>
            </a:r>
          </a:p>
          <a:p>
            <a:r>
              <a:rPr lang="en-IN" dirty="0">
                <a:latin typeface="Times New Roman" panose="02020603050405020304" pitchFamily="18" charset="0"/>
                <a:cs typeface="Times New Roman" panose="02020603050405020304" pitchFamily="18" charset="0"/>
              </a:rPr>
              <a:t>def signup():</a:t>
            </a:r>
          </a:p>
          <a:p>
            <a:r>
              <a:rPr lang="en-IN" dirty="0">
                <a:latin typeface="Times New Roman" panose="02020603050405020304" pitchFamily="18" charset="0"/>
                <a:cs typeface="Times New Roman" panose="02020603050405020304" pitchFamily="18" charset="0"/>
              </a:rPr>
              <a:t>if </a:t>
            </a:r>
            <a:r>
              <a:rPr lang="en-IN" dirty="0" err="1">
                <a:latin typeface="Times New Roman" panose="02020603050405020304" pitchFamily="18" charset="0"/>
                <a:cs typeface="Times New Roman" panose="02020603050405020304" pitchFamily="18" charset="0"/>
              </a:rPr>
              <a:t>request.method</a:t>
            </a:r>
            <a:r>
              <a:rPr lang="en-IN" dirty="0">
                <a:latin typeface="Times New Roman" panose="02020603050405020304" pitchFamily="18" charset="0"/>
                <a:cs typeface="Times New Roman" panose="02020603050405020304" pitchFamily="18" charset="0"/>
              </a:rPr>
              <a:t> == 'POST':</a:t>
            </a:r>
          </a:p>
          <a:p>
            <a:r>
              <a:rPr lang="en-IN" dirty="0">
                <a:latin typeface="Times New Roman" panose="02020603050405020304" pitchFamily="18" charset="0"/>
                <a:cs typeface="Times New Roman" panose="02020603050405020304" pitchFamily="18" charset="0"/>
              </a:rPr>
              <a:t>username = </a:t>
            </a:r>
            <a:r>
              <a:rPr lang="en-IN" dirty="0" err="1">
                <a:latin typeface="Times New Roman" panose="02020603050405020304" pitchFamily="18" charset="0"/>
                <a:cs typeface="Times New Roman" panose="02020603050405020304" pitchFamily="18" charset="0"/>
              </a:rPr>
              <a:t>request.form</a:t>
            </a:r>
            <a:r>
              <a:rPr lang="en-IN" dirty="0">
                <a:latin typeface="Times New Roman" panose="02020603050405020304" pitchFamily="18" charset="0"/>
                <a:cs typeface="Times New Roman" panose="02020603050405020304" pitchFamily="18" charset="0"/>
              </a:rPr>
              <a:t>['username']</a:t>
            </a:r>
          </a:p>
          <a:p>
            <a:r>
              <a:rPr lang="en-IN" dirty="0">
                <a:latin typeface="Times New Roman" panose="02020603050405020304" pitchFamily="18" charset="0"/>
                <a:cs typeface="Times New Roman" panose="02020603050405020304" pitchFamily="18" charset="0"/>
              </a:rPr>
              <a:t>password = </a:t>
            </a:r>
            <a:r>
              <a:rPr lang="en-IN" dirty="0" err="1">
                <a:latin typeface="Times New Roman" panose="02020603050405020304" pitchFamily="18" charset="0"/>
                <a:cs typeface="Times New Roman" panose="02020603050405020304" pitchFamily="18" charset="0"/>
              </a:rPr>
              <a:t>request.form</a:t>
            </a:r>
            <a:r>
              <a:rPr lang="en-IN" dirty="0">
                <a:latin typeface="Times New Roman" panose="02020603050405020304" pitchFamily="18" charset="0"/>
                <a:cs typeface="Times New Roman" panose="02020603050405020304" pitchFamily="18" charset="0"/>
              </a:rPr>
              <a:t>['password']</a:t>
            </a:r>
          </a:p>
          <a:p>
            <a:r>
              <a:rPr lang="en-IN" dirty="0">
                <a:latin typeface="Times New Roman" panose="02020603050405020304" pitchFamily="18" charset="0"/>
                <a:cs typeface="Times New Roman" panose="02020603050405020304" pitchFamily="18" charset="0"/>
              </a:rPr>
              <a:t># prevent duplicate users</a:t>
            </a:r>
          </a:p>
          <a:p>
            <a:r>
              <a:rPr lang="en-IN" dirty="0">
                <a:latin typeface="Times New Roman" panose="02020603050405020304" pitchFamily="18" charset="0"/>
                <a:cs typeface="Times New Roman" panose="02020603050405020304" pitchFamily="18" charset="0"/>
              </a:rPr>
              <a:t>if username in users:</a:t>
            </a:r>
          </a:p>
          <a:p>
            <a:r>
              <a:rPr lang="en-IN" dirty="0">
                <a:latin typeface="Times New Roman" panose="02020603050405020304" pitchFamily="18" charset="0"/>
                <a:cs typeface="Times New Roman" panose="02020603050405020304" pitchFamily="18" charset="0"/>
              </a:rPr>
              <a:t>return "User already exists!"</a:t>
            </a:r>
          </a:p>
          <a:p>
            <a:r>
              <a:rPr lang="en-IN" dirty="0">
                <a:latin typeface="Times New Roman" panose="02020603050405020304" pitchFamily="18" charset="0"/>
                <a:cs typeface="Times New Roman" panose="02020603050405020304" pitchFamily="18" charset="0"/>
              </a:rPr>
              <a:t>users[username] = password</a:t>
            </a:r>
          </a:p>
          <a:p>
            <a:r>
              <a:rPr lang="en-IN" dirty="0">
                <a:latin typeface="Times New Roman" panose="02020603050405020304" pitchFamily="18" charset="0"/>
                <a:cs typeface="Times New Roman" panose="02020603050405020304" pitchFamily="18" charset="0"/>
              </a:rPr>
              <a:t>return redirect('/')</a:t>
            </a:r>
          </a:p>
          <a:p>
            <a:r>
              <a:rPr lang="en-IN" dirty="0">
                <a:latin typeface="Times New Roman" panose="02020603050405020304" pitchFamily="18" charset="0"/>
                <a:cs typeface="Times New Roman" panose="02020603050405020304" pitchFamily="18" charset="0"/>
              </a:rPr>
              <a:t>return </a:t>
            </a:r>
            <a:r>
              <a:rPr lang="en-IN" dirty="0" err="1">
                <a:latin typeface="Times New Roman" panose="02020603050405020304" pitchFamily="18" charset="0"/>
                <a:cs typeface="Times New Roman" panose="02020603050405020304" pitchFamily="18" charset="0"/>
              </a:rPr>
              <a:t>render_template</a:t>
            </a:r>
            <a:r>
              <a:rPr lang="en-IN" dirty="0">
                <a:latin typeface="Times New Roman" panose="02020603050405020304" pitchFamily="18" charset="0"/>
                <a:cs typeface="Times New Roman" panose="02020603050405020304" pitchFamily="18" charset="0"/>
              </a:rPr>
              <a:t>('signup.html')</a:t>
            </a:r>
          </a:p>
          <a:p>
            <a:r>
              <a:rPr lang="en-IN" dirty="0">
                <a:latin typeface="Times New Roman" panose="02020603050405020304" pitchFamily="18" charset="0"/>
                <a:cs typeface="Times New Roman" panose="02020603050405020304" pitchFamily="18" charset="0"/>
              </a:rPr>
              <a:t>@app.route('/home')</a:t>
            </a:r>
          </a:p>
          <a:p>
            <a:r>
              <a:rPr lang="en-IN" dirty="0">
                <a:latin typeface="Times New Roman" panose="02020603050405020304" pitchFamily="18" charset="0"/>
                <a:cs typeface="Times New Roman" panose="02020603050405020304" pitchFamily="18" charset="0"/>
              </a:rPr>
              <a:t>def home():</a:t>
            </a:r>
          </a:p>
          <a:p>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1E6B7DF-E67C-A53A-E256-F334BCDDEF34}"/>
              </a:ext>
            </a:extLst>
          </p:cNvPr>
          <p:cNvSpPr txBox="1"/>
          <p:nvPr/>
        </p:nvSpPr>
        <p:spPr>
          <a:xfrm>
            <a:off x="6297283" y="1328467"/>
            <a:ext cx="5193102" cy="4801314"/>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return </a:t>
            </a:r>
            <a:r>
              <a:rPr lang="en-IN" dirty="0" err="1">
                <a:latin typeface="Times New Roman" panose="02020603050405020304" pitchFamily="18" charset="0"/>
                <a:cs typeface="Times New Roman" panose="02020603050405020304" pitchFamily="18" charset="0"/>
              </a:rPr>
              <a:t>render_template</a:t>
            </a:r>
            <a:r>
              <a:rPr lang="en-IN" dirty="0">
                <a:latin typeface="Times New Roman" panose="02020603050405020304" pitchFamily="18" charset="0"/>
                <a:cs typeface="Times New Roman" panose="02020603050405020304" pitchFamily="18" charset="0"/>
              </a:rPr>
              <a:t>('home.html')</a:t>
            </a:r>
          </a:p>
          <a:p>
            <a:r>
              <a:rPr lang="en-IN" dirty="0">
                <a:latin typeface="Times New Roman" panose="02020603050405020304" pitchFamily="18" charset="0"/>
                <a:cs typeface="Times New Roman" panose="02020603050405020304" pitchFamily="18" charset="0"/>
              </a:rPr>
              <a:t>@app.route('/detection', methods=['GET', 'POST'])</a:t>
            </a:r>
          </a:p>
          <a:p>
            <a:r>
              <a:rPr lang="en-IN" dirty="0">
                <a:latin typeface="Times New Roman" panose="02020603050405020304" pitchFamily="18" charset="0"/>
                <a:cs typeface="Times New Roman" panose="02020603050405020304" pitchFamily="18" charset="0"/>
              </a:rPr>
              <a:t>def detection():</a:t>
            </a:r>
          </a:p>
          <a:p>
            <a:r>
              <a:rPr lang="en-IN" dirty="0">
                <a:latin typeface="Times New Roman" panose="02020603050405020304" pitchFamily="18" charset="0"/>
                <a:cs typeface="Times New Roman" panose="02020603050405020304" pitchFamily="18" charset="0"/>
              </a:rPr>
              <a:t>if </a:t>
            </a:r>
            <a:r>
              <a:rPr lang="en-IN" dirty="0" err="1">
                <a:latin typeface="Times New Roman" panose="02020603050405020304" pitchFamily="18" charset="0"/>
                <a:cs typeface="Times New Roman" panose="02020603050405020304" pitchFamily="18" charset="0"/>
              </a:rPr>
              <a:t>request.method</a:t>
            </a:r>
            <a:r>
              <a:rPr lang="en-IN" dirty="0">
                <a:latin typeface="Times New Roman" panose="02020603050405020304" pitchFamily="18" charset="0"/>
                <a:cs typeface="Times New Roman" panose="02020603050405020304" pitchFamily="18" charset="0"/>
              </a:rPr>
              <a:t> == 'POST':</a:t>
            </a:r>
          </a:p>
          <a:p>
            <a:r>
              <a:rPr lang="en-IN" dirty="0" err="1">
                <a:latin typeface="Times New Roman" panose="02020603050405020304" pitchFamily="18" charset="0"/>
                <a:cs typeface="Times New Roman" panose="02020603050405020304" pitchFamily="18" charset="0"/>
              </a:rPr>
              <a:t>img</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request.files</a:t>
            </a:r>
            <a:r>
              <a:rPr lang="en-IN" dirty="0">
                <a:latin typeface="Times New Roman" panose="02020603050405020304" pitchFamily="18" charset="0"/>
                <a:cs typeface="Times New Roman" panose="02020603050405020304" pitchFamily="18" charset="0"/>
              </a:rPr>
              <a:t>['image']</a:t>
            </a:r>
          </a:p>
          <a:p>
            <a:r>
              <a:rPr lang="en-IN" dirty="0">
                <a:latin typeface="Times New Roman" panose="02020603050405020304" pitchFamily="18" charset="0"/>
                <a:cs typeface="Times New Roman" panose="02020603050405020304" pitchFamily="18" charset="0"/>
              </a:rPr>
              <a:t>path = </a:t>
            </a:r>
            <a:r>
              <a:rPr lang="en-IN" dirty="0" err="1">
                <a:latin typeface="Times New Roman" panose="02020603050405020304" pitchFamily="18" charset="0"/>
                <a:cs typeface="Times New Roman" panose="02020603050405020304" pitchFamily="18" charset="0"/>
              </a:rPr>
              <a:t>os.path.join</a:t>
            </a:r>
            <a:r>
              <a:rPr lang="en-IN" dirty="0">
                <a:latin typeface="Times New Roman" panose="02020603050405020304" pitchFamily="18" charset="0"/>
                <a:cs typeface="Times New Roman" panose="02020603050405020304" pitchFamily="18" charset="0"/>
              </a:rPr>
              <a:t>("static", </a:t>
            </a:r>
            <a:r>
              <a:rPr lang="en-IN" dirty="0" err="1">
                <a:latin typeface="Times New Roman" panose="02020603050405020304" pitchFamily="18" charset="0"/>
                <a:cs typeface="Times New Roman" panose="02020603050405020304" pitchFamily="18" charset="0"/>
              </a:rPr>
              <a:t>img.filename</a:t>
            </a:r>
            <a:r>
              <a:rPr lang="en-IN" dirty="0">
                <a:latin typeface="Times New Roman" panose="02020603050405020304" pitchFamily="18" charset="0"/>
                <a:cs typeface="Times New Roman" panose="02020603050405020304" pitchFamily="18" charset="0"/>
              </a:rPr>
              <a:t>)</a:t>
            </a:r>
          </a:p>
          <a:p>
            <a:r>
              <a:rPr lang="en-IN" dirty="0" err="1">
                <a:latin typeface="Times New Roman" panose="02020603050405020304" pitchFamily="18" charset="0"/>
                <a:cs typeface="Times New Roman" panose="02020603050405020304" pitchFamily="18" charset="0"/>
              </a:rPr>
              <a:t>img.save</a:t>
            </a:r>
            <a:r>
              <a:rPr lang="en-IN" dirty="0">
                <a:latin typeface="Times New Roman" panose="02020603050405020304" pitchFamily="18" charset="0"/>
                <a:cs typeface="Times New Roman" panose="02020603050405020304" pitchFamily="18" charset="0"/>
              </a:rPr>
              <a:t>(path)</a:t>
            </a:r>
          </a:p>
          <a:p>
            <a:r>
              <a:rPr lang="en-IN" dirty="0" err="1">
                <a:latin typeface="Times New Roman" panose="02020603050405020304" pitchFamily="18" charset="0"/>
                <a:cs typeface="Times New Roman" panose="02020603050405020304" pitchFamily="18" charset="0"/>
              </a:rPr>
              <a:t>predicted_class</a:t>
            </a:r>
            <a:r>
              <a:rPr lang="en-IN" dirty="0">
                <a:latin typeface="Times New Roman" panose="02020603050405020304" pitchFamily="18" charset="0"/>
                <a:cs typeface="Times New Roman" panose="02020603050405020304" pitchFamily="18" charset="0"/>
              </a:rPr>
              <a:t>, nutrition = </a:t>
            </a:r>
            <a:r>
              <a:rPr lang="en-IN" dirty="0" err="1">
                <a:latin typeface="Times New Roman" panose="02020603050405020304" pitchFamily="18" charset="0"/>
                <a:cs typeface="Times New Roman" panose="02020603050405020304" pitchFamily="18" charset="0"/>
              </a:rPr>
              <a:t>predict_image</a:t>
            </a:r>
            <a:r>
              <a:rPr lang="en-IN" dirty="0">
                <a:latin typeface="Times New Roman" panose="02020603050405020304" pitchFamily="18" charset="0"/>
                <a:cs typeface="Times New Roman" panose="02020603050405020304" pitchFamily="18" charset="0"/>
              </a:rPr>
              <a:t>(path)</a:t>
            </a:r>
          </a:p>
          <a:p>
            <a:r>
              <a:rPr lang="en-IN" dirty="0">
                <a:latin typeface="Times New Roman" panose="02020603050405020304" pitchFamily="18" charset="0"/>
                <a:cs typeface="Times New Roman" panose="02020603050405020304" pitchFamily="18" charset="0"/>
              </a:rPr>
              <a:t>return </a:t>
            </a:r>
            <a:r>
              <a:rPr lang="en-IN" dirty="0" err="1">
                <a:latin typeface="Times New Roman" panose="02020603050405020304" pitchFamily="18" charset="0"/>
                <a:cs typeface="Times New Roman" panose="02020603050405020304" pitchFamily="18" charset="0"/>
              </a:rPr>
              <a:t>render_template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"detection.html",</a:t>
            </a:r>
          </a:p>
          <a:p>
            <a:r>
              <a:rPr lang="en-IN" dirty="0" err="1">
                <a:latin typeface="Times New Roman" panose="02020603050405020304" pitchFamily="18" charset="0"/>
                <a:cs typeface="Times New Roman" panose="02020603050405020304" pitchFamily="18" charset="0"/>
              </a:rPr>
              <a:t>predicted_class</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predicted_class</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nutrition=nutrition,</a:t>
            </a:r>
          </a:p>
          <a:p>
            <a:r>
              <a:rPr lang="en-IN" dirty="0" err="1">
                <a:latin typeface="Times New Roman" panose="02020603050405020304" pitchFamily="18" charset="0"/>
                <a:cs typeface="Times New Roman" panose="02020603050405020304" pitchFamily="18" charset="0"/>
              </a:rPr>
              <a:t>image_path</a:t>
            </a:r>
            <a:r>
              <a:rPr lang="en-IN" dirty="0">
                <a:latin typeface="Times New Roman" panose="02020603050405020304" pitchFamily="18" charset="0"/>
                <a:cs typeface="Times New Roman" panose="02020603050405020304" pitchFamily="18" charset="0"/>
              </a:rPr>
              <a:t>=path</a:t>
            </a:r>
          </a:p>
          <a:p>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return </a:t>
            </a:r>
            <a:r>
              <a:rPr lang="en-IN" dirty="0" err="1">
                <a:latin typeface="Times New Roman" panose="02020603050405020304" pitchFamily="18" charset="0"/>
                <a:cs typeface="Times New Roman" panose="02020603050405020304" pitchFamily="18" charset="0"/>
              </a:rPr>
              <a:t>render_template</a:t>
            </a:r>
            <a:r>
              <a:rPr lang="en-IN" dirty="0">
                <a:latin typeface="Times New Roman" panose="02020603050405020304" pitchFamily="18" charset="0"/>
                <a:cs typeface="Times New Roman" panose="02020603050405020304" pitchFamily="18" charset="0"/>
              </a:rPr>
              <a:t>("detection.html")</a:t>
            </a:r>
          </a:p>
          <a:p>
            <a:r>
              <a:rPr lang="en-IN" dirty="0">
                <a:latin typeface="Times New Roman" panose="02020603050405020304" pitchFamily="18" charset="0"/>
                <a:cs typeface="Times New Roman" panose="02020603050405020304" pitchFamily="18" charset="0"/>
              </a:rPr>
              <a:t>if __name__ == "__main__":</a:t>
            </a:r>
          </a:p>
          <a:p>
            <a:r>
              <a:rPr lang="en-IN" dirty="0" err="1">
                <a:latin typeface="Times New Roman" panose="02020603050405020304" pitchFamily="18" charset="0"/>
                <a:cs typeface="Times New Roman" panose="02020603050405020304" pitchFamily="18" charset="0"/>
              </a:rPr>
              <a:t>app.run</a:t>
            </a:r>
            <a:r>
              <a:rPr lang="en-IN" dirty="0">
                <a:latin typeface="Times New Roman" panose="02020603050405020304" pitchFamily="18" charset="0"/>
                <a:cs typeface="Times New Roman" panose="02020603050405020304" pitchFamily="18" charset="0"/>
              </a:rPr>
              <a:t>(debug=True, </a:t>
            </a:r>
            <a:r>
              <a:rPr lang="en-IN" dirty="0" err="1">
                <a:latin typeface="Times New Roman" panose="02020603050405020304" pitchFamily="18" charset="0"/>
                <a:cs typeface="Times New Roman" panose="02020603050405020304" pitchFamily="18" charset="0"/>
              </a:rPr>
              <a:t>use_reloader</a:t>
            </a:r>
            <a:r>
              <a:rPr lang="en-IN" dirty="0">
                <a:latin typeface="Times New Roman" panose="02020603050405020304" pitchFamily="18" charset="0"/>
                <a:cs typeface="Times New Roman" panose="02020603050405020304" pitchFamily="18" charset="0"/>
              </a:rPr>
              <a:t>=False)</a:t>
            </a:r>
          </a:p>
        </p:txBody>
      </p:sp>
    </p:spTree>
    <p:extLst>
      <p:ext uri="{BB962C8B-B14F-4D97-AF65-F5344CB8AC3E}">
        <p14:creationId xmlns:p14="http://schemas.microsoft.com/office/powerpoint/2010/main" val="1221596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E3349-683C-2C26-1FD5-1E1CAB6867D5}"/>
              </a:ext>
            </a:extLst>
          </p:cNvPr>
          <p:cNvSpPr>
            <a:spLocks noGrp="1"/>
          </p:cNvSpPr>
          <p:nvPr>
            <p:ph type="ctrTitle"/>
          </p:nvPr>
        </p:nvSpPr>
        <p:spPr>
          <a:xfrm>
            <a:off x="1154955" y="-336430"/>
            <a:ext cx="8825658" cy="1811547"/>
          </a:xfrm>
        </p:spPr>
        <p:txBody>
          <a:bodyPr/>
          <a:lstStyle/>
          <a:p>
            <a:pPr algn="ctr"/>
            <a:r>
              <a:rPr lang="en-US" sz="3600" b="1" dirty="0">
                <a:latin typeface="Times New Roman" panose="02020603050405020304" pitchFamily="18" charset="0"/>
                <a:cs typeface="Times New Roman" panose="02020603050405020304" pitchFamily="18" charset="0"/>
              </a:rPr>
              <a:t>TESTING AND TEST CASES</a:t>
            </a:r>
            <a:br>
              <a:rPr lang="en-IN" sz="3600" b="1" dirty="0">
                <a:latin typeface="Times New Roman" panose="02020603050405020304" pitchFamily="18" charset="0"/>
                <a:cs typeface="Times New Roman" panose="02020603050405020304" pitchFamily="18" charset="0"/>
              </a:rPr>
            </a:br>
            <a:endParaRPr lang="en-IN" sz="3600" dirty="0"/>
          </a:p>
        </p:txBody>
      </p:sp>
      <p:sp>
        <p:nvSpPr>
          <p:cNvPr id="3" name="TextBox 2">
            <a:extLst>
              <a:ext uri="{FF2B5EF4-FFF2-40B4-BE49-F238E27FC236}">
                <a16:creationId xmlns:a16="http://schemas.microsoft.com/office/drawing/2014/main" id="{9A4479BC-49F2-50DA-0C20-C2BB874EF734}"/>
              </a:ext>
            </a:extLst>
          </p:cNvPr>
          <p:cNvSpPr txBox="1"/>
          <p:nvPr/>
        </p:nvSpPr>
        <p:spPr>
          <a:xfrm>
            <a:off x="552091" y="1759789"/>
            <a:ext cx="10808898" cy="4154984"/>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Functional Testing: </a:t>
            </a:r>
            <a:r>
              <a:rPr lang="en-US" sz="2400" dirty="0">
                <a:latin typeface="Times New Roman" panose="02020603050405020304" pitchFamily="18" charset="0"/>
                <a:cs typeface="Times New Roman" panose="02020603050405020304" pitchFamily="18" charset="0"/>
              </a:rPr>
              <a:t>Ensured that each feature of the system works as expected, including user login, image upload, food prediction, and nutrition display.</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Unit Testing: </a:t>
            </a:r>
            <a:r>
              <a:rPr lang="en-US" sz="2400" dirty="0">
                <a:latin typeface="Times New Roman" panose="02020603050405020304" pitchFamily="18" charset="0"/>
                <a:cs typeface="Times New Roman" panose="02020603050405020304" pitchFamily="18" charset="0"/>
              </a:rPr>
              <a:t>Tested individual functions like image preprocessing, food prediction, and nutrition data retrieval to ensure correct outputs.</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User Interface (UI) Testing: </a:t>
            </a:r>
            <a:r>
              <a:rPr lang="en-US" sz="2400" dirty="0">
                <a:latin typeface="Times New Roman" panose="02020603050405020304" pitchFamily="18" charset="0"/>
                <a:cs typeface="Times New Roman" panose="02020603050405020304" pitchFamily="18" charset="0"/>
              </a:rPr>
              <a:t>Checked the proper rendering and navigation of web pages including signup, </a:t>
            </a:r>
            <a:r>
              <a:rPr lang="en-US" sz="2400" dirty="0" err="1">
                <a:latin typeface="Times New Roman" panose="02020603050405020304" pitchFamily="18" charset="0"/>
                <a:cs typeface="Times New Roman" panose="02020603050405020304" pitchFamily="18" charset="0"/>
              </a:rPr>
              <a:t>signin</a:t>
            </a:r>
            <a:r>
              <a:rPr lang="en-US" sz="2400" dirty="0">
                <a:latin typeface="Times New Roman" panose="02020603050405020304" pitchFamily="18" charset="0"/>
                <a:cs typeface="Times New Roman" panose="02020603050405020304" pitchFamily="18" charset="0"/>
              </a:rPr>
              <a:t>, home, and detection pages.</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Input Validation Testing: </a:t>
            </a:r>
            <a:r>
              <a:rPr lang="en-US" sz="2400" dirty="0">
                <a:latin typeface="Times New Roman" panose="02020603050405020304" pitchFamily="18" charset="0"/>
                <a:cs typeface="Times New Roman" panose="02020603050405020304" pitchFamily="18" charset="0"/>
              </a:rPr>
              <a:t>Ensured safe handling of invalid inputs such as unsupported image formats, empty uploads, and duplicate user credentials.</a:t>
            </a:r>
          </a:p>
        </p:txBody>
      </p:sp>
    </p:spTree>
    <p:extLst>
      <p:ext uri="{BB962C8B-B14F-4D97-AF65-F5344CB8AC3E}">
        <p14:creationId xmlns:p14="http://schemas.microsoft.com/office/powerpoint/2010/main" val="2926804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B8F41F-0D94-48B7-5CF4-31CD39227029}"/>
              </a:ext>
            </a:extLst>
          </p:cNvPr>
          <p:cNvSpPr txBox="1"/>
          <p:nvPr/>
        </p:nvSpPr>
        <p:spPr>
          <a:xfrm>
            <a:off x="3102707" y="117231"/>
            <a:ext cx="5314462"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TEST CASES</a:t>
            </a:r>
          </a:p>
        </p:txBody>
      </p:sp>
      <p:graphicFrame>
        <p:nvGraphicFramePr>
          <p:cNvPr id="3" name="Table 2">
            <a:extLst>
              <a:ext uri="{FF2B5EF4-FFF2-40B4-BE49-F238E27FC236}">
                <a16:creationId xmlns:a16="http://schemas.microsoft.com/office/drawing/2014/main" id="{D4FC0202-60EC-80C5-D3DF-D26372A56DE5}"/>
              </a:ext>
            </a:extLst>
          </p:cNvPr>
          <p:cNvGraphicFramePr>
            <a:graphicFrameLocks noGrp="1"/>
          </p:cNvGraphicFramePr>
          <p:nvPr>
            <p:extLst>
              <p:ext uri="{D42A27DB-BD31-4B8C-83A1-F6EECF244321}">
                <p14:modId xmlns:p14="http://schemas.microsoft.com/office/powerpoint/2010/main" val="1722152346"/>
              </p:ext>
            </p:extLst>
          </p:nvPr>
        </p:nvGraphicFramePr>
        <p:xfrm>
          <a:off x="1068808" y="1026094"/>
          <a:ext cx="9669692" cy="5394325"/>
        </p:xfrm>
        <a:graphic>
          <a:graphicData uri="http://schemas.openxmlformats.org/drawingml/2006/table">
            <a:tbl>
              <a:tblPr firstRow="1" bandRow="1">
                <a:tableStyleId>{5C22544A-7EE6-4342-B048-85BDC9FD1C3A}</a:tableStyleId>
              </a:tblPr>
              <a:tblGrid>
                <a:gridCol w="1876336">
                  <a:extLst>
                    <a:ext uri="{9D8B030D-6E8A-4147-A177-3AD203B41FA5}">
                      <a16:colId xmlns:a16="http://schemas.microsoft.com/office/drawing/2014/main" val="2926338413"/>
                    </a:ext>
                  </a:extLst>
                </a:gridCol>
                <a:gridCol w="1876336">
                  <a:extLst>
                    <a:ext uri="{9D8B030D-6E8A-4147-A177-3AD203B41FA5}">
                      <a16:colId xmlns:a16="http://schemas.microsoft.com/office/drawing/2014/main" val="3772224711"/>
                    </a:ext>
                  </a:extLst>
                </a:gridCol>
                <a:gridCol w="1876336">
                  <a:extLst>
                    <a:ext uri="{9D8B030D-6E8A-4147-A177-3AD203B41FA5}">
                      <a16:colId xmlns:a16="http://schemas.microsoft.com/office/drawing/2014/main" val="3144979113"/>
                    </a:ext>
                  </a:extLst>
                </a:gridCol>
                <a:gridCol w="2020342">
                  <a:extLst>
                    <a:ext uri="{9D8B030D-6E8A-4147-A177-3AD203B41FA5}">
                      <a16:colId xmlns:a16="http://schemas.microsoft.com/office/drawing/2014/main" val="2404936706"/>
                    </a:ext>
                  </a:extLst>
                </a:gridCol>
                <a:gridCol w="2020342">
                  <a:extLst>
                    <a:ext uri="{9D8B030D-6E8A-4147-A177-3AD203B41FA5}">
                      <a16:colId xmlns:a16="http://schemas.microsoft.com/office/drawing/2014/main" val="2213100532"/>
                    </a:ext>
                  </a:extLst>
                </a:gridCol>
              </a:tblGrid>
              <a:tr h="243856">
                <a:tc>
                  <a:txBody>
                    <a:bodyPr/>
                    <a:lstStyle/>
                    <a:p>
                      <a:pPr marL="325755" indent="-220345" algn="ctr">
                        <a:lnSpc>
                          <a:spcPct val="96000"/>
                        </a:lnSpc>
                        <a:spcBef>
                          <a:spcPts val="15"/>
                        </a:spcBef>
                        <a:buNone/>
                      </a:pPr>
                      <a:r>
                        <a:rPr lang="en-US" sz="2000" b="1" spc="-30" dirty="0">
                          <a:effectLst/>
                          <a:latin typeface="Times New Roman" panose="02020603050405020304" pitchFamily="18" charset="0"/>
                          <a:ea typeface="Times New Roman" panose="02020603050405020304" pitchFamily="18" charset="0"/>
                          <a:cs typeface="Times New Roman" panose="02020603050405020304" pitchFamily="18" charset="0"/>
                        </a:rPr>
                        <a:t>Test Case ID</a:t>
                      </a:r>
                    </a:p>
                  </a:txBody>
                  <a:tcPr marL="0" marR="0" marT="0" marB="0"/>
                </a:tc>
                <a:tc>
                  <a:txBody>
                    <a:bodyPr/>
                    <a:lstStyle/>
                    <a:p>
                      <a:pPr marL="87630" indent="237490" algn="ctr">
                        <a:lnSpc>
                          <a:spcPct val="98000"/>
                        </a:lnSpc>
                        <a:buNone/>
                      </a:pPr>
                      <a:r>
                        <a:rPr lang="en-US" sz="2000" b="1" spc="-20" dirty="0">
                          <a:effectLst/>
                          <a:latin typeface="Times New Roman" panose="02020603050405020304" pitchFamily="18" charset="0"/>
                          <a:ea typeface="Times New Roman" panose="02020603050405020304" pitchFamily="18" charset="0"/>
                          <a:cs typeface="Times New Roman" panose="02020603050405020304" pitchFamily="18" charset="0"/>
                        </a:rPr>
                        <a:t>Test Description</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55270" algn="ctr">
                        <a:lnSpc>
                          <a:spcPts val="1365"/>
                        </a:lnSpc>
                        <a:buNone/>
                      </a:pPr>
                      <a:endPar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55270" algn="ctr">
                        <a:lnSpc>
                          <a:spcPts val="1365"/>
                        </a:lnSpc>
                        <a:buNone/>
                      </a:pP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Input</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24460" algn="ctr">
                        <a:lnSpc>
                          <a:spcPts val="1365"/>
                        </a:lnSpc>
                        <a:buNone/>
                      </a:pP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24460" algn="ctr">
                        <a:lnSpc>
                          <a:spcPts val="1365"/>
                        </a:lnSpc>
                        <a:buNone/>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Expected</a:t>
                      </a:r>
                      <a:r>
                        <a:rPr lang="en-US" sz="2000" b="1"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Output</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algn="ctr">
                        <a:lnSpc>
                          <a:spcPts val="1365"/>
                        </a:lnSpc>
                        <a:buNone/>
                      </a:pPr>
                      <a:endPar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620" algn="ctr">
                        <a:lnSpc>
                          <a:spcPts val="1365"/>
                        </a:lnSpc>
                        <a:buNone/>
                      </a:pP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Result Type</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91720051"/>
                  </a:ext>
                </a:extLst>
              </a:tr>
              <a:tr h="319909">
                <a:tc>
                  <a:txBody>
                    <a:bodyPr/>
                    <a:lstStyle/>
                    <a:p>
                      <a:pPr marL="20955" marR="12065" algn="ctr">
                        <a:lnSpc>
                          <a:spcPts val="1340"/>
                        </a:lnSpc>
                        <a:buNone/>
                      </a:pPr>
                      <a:endPar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0955" marR="12065" algn="ctr">
                        <a:lnSpc>
                          <a:spcPts val="1340"/>
                        </a:lnSpc>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TC01</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9055" indent="50165" algn="ctr">
                        <a:lnSpc>
                          <a:spcPct val="100000"/>
                        </a:lnSpc>
                        <a:buNone/>
                      </a:pP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Upload</a:t>
                      </a:r>
                      <a:r>
                        <a:rPr lang="en-US" sz="1800" spc="-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food image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40030" marR="180340" indent="-52070" algn="ctr">
                        <a:lnSpc>
                          <a:spcPct val="100000"/>
                        </a:lnSpc>
                        <a:buNone/>
                      </a:pP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Image</a:t>
                      </a:r>
                      <a:r>
                        <a:rPr lang="en-US" sz="1800" spc="-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of Mango</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20370" indent="-182880" algn="ctr">
                        <a:lnSpc>
                          <a:spcPct val="100000"/>
                        </a:lnSpc>
                        <a:buNone/>
                      </a:pPr>
                      <a:r>
                        <a:rPr lang="en-US" sz="1800" spc="-10">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en-US" sz="1800" spc="-10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a:effectLst/>
                          <a:latin typeface="Times New Roman" panose="02020603050405020304" pitchFamily="18" charset="0"/>
                          <a:ea typeface="Times New Roman" panose="02020603050405020304" pitchFamily="18" charset="0"/>
                          <a:cs typeface="Times New Roman" panose="02020603050405020304" pitchFamily="18" charset="0"/>
                        </a:rPr>
                        <a:t>predicts “Mango”</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marR="635" algn="ctr">
                        <a:lnSpc>
                          <a:spcPts val="1340"/>
                        </a:lnSpc>
                        <a:buNone/>
                      </a:pPr>
                      <a:endPar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620" marR="635" algn="ctr">
                        <a:lnSpc>
                          <a:spcPts val="1340"/>
                        </a:lnSpc>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Positive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201845849"/>
                  </a:ext>
                </a:extLst>
              </a:tr>
              <a:tr h="423361">
                <a:tc>
                  <a:txBody>
                    <a:bodyPr/>
                    <a:lstStyle/>
                    <a:p>
                      <a:pPr marL="20955" marR="12065" algn="ctr">
                        <a:lnSpc>
                          <a:spcPts val="1340"/>
                        </a:lnSpc>
                        <a:buNone/>
                      </a:pPr>
                      <a:endPar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0955" marR="12065" algn="ctr">
                        <a:lnSpc>
                          <a:spcPts val="1340"/>
                        </a:lnSpc>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TC02</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5565" indent="-16510" algn="ctr">
                        <a:lnSpc>
                          <a:spcPct val="100000"/>
                        </a:lnSpc>
                        <a:buNone/>
                      </a:pP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Image </a:t>
                      </a: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Classification</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27965" marR="180340" indent="-40005" algn="ctr">
                        <a:lnSpc>
                          <a:spcPct val="100000"/>
                        </a:lnSpc>
                        <a:buNone/>
                      </a:pP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Image</a:t>
                      </a:r>
                      <a:r>
                        <a:rPr lang="en-US" sz="1800" spc="-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of Biryani</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40665" indent="42545" algn="ctr">
                        <a:lnSpc>
                          <a:spcPct val="100000"/>
                        </a:lnSpc>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en-US" sz="1800" spc="1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shows “Biryani”</a:t>
                      </a:r>
                      <a:r>
                        <a:rPr lang="en-US" sz="1800" spc="3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with</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40665" algn="ctr">
                        <a:lnSpc>
                          <a:spcPts val="1250"/>
                        </a:lnSpc>
                        <a:buNone/>
                      </a:pP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nutrition</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details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marR="635" algn="ctr">
                        <a:lnSpc>
                          <a:spcPts val="1340"/>
                        </a:lnSpc>
                        <a:buNone/>
                      </a:pPr>
                      <a:endPar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620" marR="635" algn="ctr">
                        <a:lnSpc>
                          <a:spcPts val="1340"/>
                        </a:lnSpc>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Positive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668868586"/>
                  </a:ext>
                </a:extLst>
              </a:tr>
              <a:tr h="921293">
                <a:tc>
                  <a:txBody>
                    <a:bodyPr/>
                    <a:lstStyle/>
                    <a:p>
                      <a:pPr marL="20955" algn="ctr">
                        <a:lnSpc>
                          <a:spcPts val="1245"/>
                        </a:lnSpc>
                        <a:buNone/>
                      </a:pPr>
                      <a:endPar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0955" algn="ctr">
                        <a:lnSpc>
                          <a:spcPts val="1245"/>
                        </a:lnSpc>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TC03</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37160" marR="124460" indent="3175" algn="ctr">
                        <a:lnSpc>
                          <a:spcPct val="96000"/>
                        </a:lnSpc>
                        <a:spcBef>
                          <a:spcPts val="10"/>
                        </a:spcBef>
                        <a:buNone/>
                      </a:pP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Display nutrition </a:t>
                      </a: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information</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54940" marR="151130" indent="5715" algn="ctr">
                        <a:lnSpc>
                          <a:spcPct val="96000"/>
                        </a:lnSpc>
                        <a:spcBef>
                          <a:spcPts val="10"/>
                        </a:spcBef>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Food prediction </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result</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27635" marR="115570" indent="-635" algn="ctr">
                        <a:lnSpc>
                          <a:spcPct val="96000"/>
                        </a:lnSpc>
                        <a:spcBef>
                          <a:spcPts val="10"/>
                        </a:spcBef>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Displays vitamins,</a:t>
                      </a:r>
                      <a:r>
                        <a:rPr lang="en-US"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minerals, best</a:t>
                      </a:r>
                      <a:r>
                        <a:rPr lang="en-US"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time</a:t>
                      </a:r>
                      <a:r>
                        <a:rPr lang="en-US"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1800" spc="-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eat, and other nutritional details.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marR="635" algn="ctr">
                        <a:lnSpc>
                          <a:spcPts val="1340"/>
                        </a:lnSpc>
                        <a:buNone/>
                      </a:pPr>
                      <a:endPar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620" marR="635" algn="ctr">
                        <a:lnSpc>
                          <a:spcPts val="1340"/>
                        </a:lnSpc>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Positive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712678552"/>
                  </a:ext>
                </a:extLst>
              </a:tr>
              <a:tr h="319909">
                <a:tc>
                  <a:txBody>
                    <a:bodyPr/>
                    <a:lstStyle/>
                    <a:p>
                      <a:pPr marL="20955" algn="ctr">
                        <a:lnSpc>
                          <a:spcPts val="1245"/>
                        </a:lnSpc>
                        <a:buNone/>
                      </a:pPr>
                      <a:endPar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0955" algn="ctr">
                        <a:lnSpc>
                          <a:spcPts val="1245"/>
                        </a:lnSpc>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TC04</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9055" indent="90170" algn="ctr">
                        <a:spcBef>
                          <a:spcPts val="5"/>
                        </a:spcBef>
                        <a:buNone/>
                      </a:pPr>
                      <a:r>
                        <a:rPr lang="en-US" sz="1800" spc="-20">
                          <a:effectLst/>
                          <a:latin typeface="Times New Roman" panose="02020603050405020304" pitchFamily="18" charset="0"/>
                          <a:ea typeface="Times New Roman" panose="02020603050405020304" pitchFamily="18" charset="0"/>
                          <a:cs typeface="Times New Roman" panose="02020603050405020304" pitchFamily="18" charset="0"/>
                        </a:rPr>
                        <a:t>Web</a:t>
                      </a:r>
                      <a:r>
                        <a:rPr lang="en-US" sz="1800" spc="-7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a:effectLst/>
                          <a:latin typeface="Times New Roman" panose="02020603050405020304" pitchFamily="18" charset="0"/>
                          <a:ea typeface="Times New Roman" panose="02020603050405020304" pitchFamily="18" charset="0"/>
                          <a:cs typeface="Times New Roman" panose="02020603050405020304" pitchFamily="18" charset="0"/>
                        </a:rPr>
                        <a:t>page </a:t>
                      </a:r>
                      <a:r>
                        <a:rPr lang="en-US" sz="1800" spc="-10">
                          <a:effectLst/>
                          <a:latin typeface="Times New Roman" panose="02020603050405020304" pitchFamily="18" charset="0"/>
                          <a:ea typeface="Times New Roman" panose="02020603050405020304" pitchFamily="18" charset="0"/>
                          <a:cs typeface="Times New Roman" panose="02020603050405020304" pitchFamily="18" charset="0"/>
                        </a:rPr>
                        <a:t>loading</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09220" marR="105410" indent="5715" algn="ctr">
                        <a:spcBef>
                          <a:spcPts val="5"/>
                        </a:spcBef>
                        <a:buNone/>
                      </a:pP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Open</a:t>
                      </a:r>
                      <a:r>
                        <a:rPr lang="en-US"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home </a:t>
                      </a: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page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25755" indent="-128270" algn="ctr">
                        <a:spcBef>
                          <a:spcPts val="5"/>
                        </a:spcBef>
                        <a:buNone/>
                      </a:pP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Home</a:t>
                      </a:r>
                      <a:r>
                        <a:rPr lang="en-US"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page</a:t>
                      </a:r>
                      <a:r>
                        <a:rPr lang="en-US" sz="1800" spc="-9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loads successfully.</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marR="635" algn="ctr">
                        <a:lnSpc>
                          <a:spcPts val="1340"/>
                        </a:lnSpc>
                        <a:buNone/>
                      </a:pPr>
                      <a:endPar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620" marR="635" algn="ctr">
                        <a:lnSpc>
                          <a:spcPts val="1340"/>
                        </a:lnSpc>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Positive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413365857"/>
                  </a:ext>
                </a:extLst>
              </a:tr>
              <a:tr h="799772">
                <a:tc>
                  <a:txBody>
                    <a:bodyPr/>
                    <a:lstStyle/>
                    <a:p>
                      <a:pPr marL="20955" algn="ctr">
                        <a:lnSpc>
                          <a:spcPts val="1245"/>
                        </a:lnSpc>
                        <a:buNone/>
                      </a:pPr>
                      <a:endPar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0955" algn="ctr">
                        <a:lnSpc>
                          <a:spcPts val="1245"/>
                        </a:lnSpc>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TC05</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49225" indent="36195" algn="ctr">
                        <a:spcBef>
                          <a:spcPts val="5"/>
                        </a:spcBef>
                        <a:buNone/>
                      </a:pPr>
                      <a:r>
                        <a:rPr lang="en-US" sz="1800" spc="-20">
                          <a:effectLst/>
                          <a:latin typeface="Times New Roman" panose="02020603050405020304" pitchFamily="18" charset="0"/>
                          <a:ea typeface="Times New Roman" panose="02020603050405020304" pitchFamily="18" charset="0"/>
                          <a:cs typeface="Times New Roman" panose="02020603050405020304" pitchFamily="18" charset="0"/>
                        </a:rPr>
                        <a:t>Uploading non-image file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04165" marR="105410" indent="-189230" algn="ctr">
                        <a:spcBef>
                          <a:spcPts val="5"/>
                        </a:spcBef>
                        <a:buNone/>
                      </a:pP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.txt/.pdf file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25755" indent="-128270" algn="ctr">
                        <a:spcBef>
                          <a:spcPts val="5"/>
                        </a:spcBef>
                        <a:buNone/>
                      </a:pP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System displays an error message and rejects the invalid file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marR="635" algn="ctr">
                        <a:lnSpc>
                          <a:spcPts val="1340"/>
                        </a:lnSpc>
                        <a:buNone/>
                      </a:pPr>
                      <a:endPar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620" marR="635" algn="ctr">
                        <a:lnSpc>
                          <a:spcPts val="1340"/>
                        </a:lnSpc>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Negative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282800274"/>
                  </a:ext>
                </a:extLst>
              </a:tr>
              <a:tr h="639818">
                <a:tc>
                  <a:txBody>
                    <a:bodyPr/>
                    <a:lstStyle/>
                    <a:p>
                      <a:pPr marL="20955" algn="ctr">
                        <a:lnSpc>
                          <a:spcPts val="1245"/>
                        </a:lnSpc>
                        <a:buNone/>
                      </a:pPr>
                      <a:endPar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0955" algn="ctr">
                        <a:lnSpc>
                          <a:spcPts val="1245"/>
                        </a:lnSpc>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TC06</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9055" indent="-64135" algn="ctr">
                        <a:spcBef>
                          <a:spcPts val="5"/>
                        </a:spcBef>
                        <a:buNone/>
                      </a:pPr>
                      <a:r>
                        <a:rPr lang="en-US" sz="1800" spc="-20">
                          <a:effectLst/>
                          <a:latin typeface="Times New Roman" panose="02020603050405020304" pitchFamily="18" charset="0"/>
                          <a:ea typeface="Times New Roman" panose="02020603050405020304" pitchFamily="18" charset="0"/>
                          <a:cs typeface="Times New Roman" panose="02020603050405020304" pitchFamily="18" charset="0"/>
                        </a:rPr>
                        <a:t>Unknown food image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04165" marR="105410" indent="-189230" algn="ctr">
                        <a:spcBef>
                          <a:spcPts val="5"/>
                        </a:spcBef>
                        <a:buNone/>
                      </a:pPr>
                      <a:r>
                        <a:rPr lang="en-US" sz="1800" spc="-10">
                          <a:effectLst/>
                          <a:latin typeface="Times New Roman" panose="02020603050405020304" pitchFamily="18" charset="0"/>
                          <a:ea typeface="Times New Roman" panose="02020603050405020304" pitchFamily="18" charset="0"/>
                          <a:cs typeface="Times New Roman" panose="02020603050405020304" pitchFamily="18" charset="0"/>
                        </a:rPr>
                        <a:t>Random/</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p>
                      <a:pPr marL="109220" marR="105410" indent="5715" algn="ctr">
                        <a:spcBef>
                          <a:spcPts val="5"/>
                        </a:spcBef>
                        <a:buNone/>
                      </a:pPr>
                      <a:r>
                        <a:rPr lang="en-US" sz="1800" spc="-10">
                          <a:effectLst/>
                          <a:latin typeface="Times New Roman" panose="02020603050405020304" pitchFamily="18" charset="0"/>
                          <a:ea typeface="Times New Roman" panose="02020603050405020304" pitchFamily="18" charset="0"/>
                          <a:cs typeface="Times New Roman" panose="02020603050405020304" pitchFamily="18" charset="0"/>
                        </a:rPr>
                        <a:t>Unsupported image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25755" indent="-128270" algn="ctr">
                        <a:spcBef>
                          <a:spcPts val="5"/>
                        </a:spcBef>
                        <a:buNone/>
                      </a:pP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System shows a low -confidence or default output</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marR="635" algn="ctr">
                        <a:lnSpc>
                          <a:spcPts val="1340"/>
                        </a:lnSpc>
                        <a:buNone/>
                      </a:pPr>
                      <a:endPar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620" marR="635" algn="ctr">
                        <a:lnSpc>
                          <a:spcPts val="1340"/>
                        </a:lnSpc>
                        <a:buNone/>
                      </a:pP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Negative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214331347"/>
                  </a:ext>
                </a:extLst>
              </a:tr>
            </a:tbl>
          </a:graphicData>
        </a:graphic>
      </p:graphicFrame>
    </p:spTree>
    <p:extLst>
      <p:ext uri="{BB962C8B-B14F-4D97-AF65-F5344CB8AC3E}">
        <p14:creationId xmlns:p14="http://schemas.microsoft.com/office/powerpoint/2010/main" val="3006987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F9FFC5-209F-08F8-4ECE-DFA0EFA58904}"/>
              </a:ext>
            </a:extLst>
          </p:cNvPr>
          <p:cNvSpPr txBox="1"/>
          <p:nvPr/>
        </p:nvSpPr>
        <p:spPr>
          <a:xfrm>
            <a:off x="1798276" y="372853"/>
            <a:ext cx="825548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RESULTS</a:t>
            </a:r>
            <a:endParaRPr lang="en-IN" sz="36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2ADEC5F-B71B-8DF1-2EA4-C5FC3A6218E2}"/>
              </a:ext>
            </a:extLst>
          </p:cNvPr>
          <p:cNvPicPr>
            <a:picLocks noChangeAspect="1"/>
          </p:cNvPicPr>
          <p:nvPr/>
        </p:nvPicPr>
        <p:blipFill>
          <a:blip r:embed="rId2"/>
          <a:stretch>
            <a:fillRect/>
          </a:stretch>
        </p:blipFill>
        <p:spPr>
          <a:xfrm>
            <a:off x="262934" y="2242868"/>
            <a:ext cx="11666131" cy="2791387"/>
          </a:xfrm>
          <a:prstGeom prst="rect">
            <a:avLst/>
          </a:prstGeom>
        </p:spPr>
      </p:pic>
    </p:spTree>
    <p:extLst>
      <p:ext uri="{BB962C8B-B14F-4D97-AF65-F5344CB8AC3E}">
        <p14:creationId xmlns:p14="http://schemas.microsoft.com/office/powerpoint/2010/main" val="33394807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2BA624-8665-673C-C6BE-F0283F00460A}"/>
              </a:ext>
            </a:extLst>
          </p:cNvPr>
          <p:cNvSpPr txBox="1"/>
          <p:nvPr/>
        </p:nvSpPr>
        <p:spPr>
          <a:xfrm>
            <a:off x="2884245" y="364249"/>
            <a:ext cx="5555412"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SIGN UP PAGE</a:t>
            </a:r>
            <a:endParaRPr lang="en-IN" sz="36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85D0EE3-4B59-26FB-A25C-69538E755100}"/>
              </a:ext>
            </a:extLst>
          </p:cNvPr>
          <p:cNvPicPr>
            <a:picLocks noChangeAspect="1"/>
          </p:cNvPicPr>
          <p:nvPr/>
        </p:nvPicPr>
        <p:blipFill>
          <a:blip r:embed="rId2"/>
          <a:stretch>
            <a:fillRect/>
          </a:stretch>
        </p:blipFill>
        <p:spPr>
          <a:xfrm>
            <a:off x="1202064" y="1604513"/>
            <a:ext cx="9279153" cy="4666891"/>
          </a:xfrm>
          <a:prstGeom prst="rect">
            <a:avLst/>
          </a:prstGeom>
        </p:spPr>
      </p:pic>
    </p:spTree>
    <p:extLst>
      <p:ext uri="{BB962C8B-B14F-4D97-AF65-F5344CB8AC3E}">
        <p14:creationId xmlns:p14="http://schemas.microsoft.com/office/powerpoint/2010/main" val="2323981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B54FD6-334E-C9CA-DB91-A0A3503833ED}"/>
              </a:ext>
            </a:extLst>
          </p:cNvPr>
          <p:cNvPicPr>
            <a:picLocks noChangeAspect="1"/>
          </p:cNvPicPr>
          <p:nvPr/>
        </p:nvPicPr>
        <p:blipFill>
          <a:blip r:embed="rId2"/>
          <a:stretch>
            <a:fillRect/>
          </a:stretch>
        </p:blipFill>
        <p:spPr>
          <a:xfrm>
            <a:off x="923027" y="1424796"/>
            <a:ext cx="9880620" cy="4768970"/>
          </a:xfrm>
          <a:prstGeom prst="rect">
            <a:avLst/>
          </a:prstGeom>
        </p:spPr>
      </p:pic>
      <p:sp>
        <p:nvSpPr>
          <p:cNvPr id="5" name="TextBox 4">
            <a:extLst>
              <a:ext uri="{FF2B5EF4-FFF2-40B4-BE49-F238E27FC236}">
                <a16:creationId xmlns:a16="http://schemas.microsoft.com/office/drawing/2014/main" id="{2E755E98-BF51-4B06-729D-8553D2022539}"/>
              </a:ext>
            </a:extLst>
          </p:cNvPr>
          <p:cNvSpPr txBox="1"/>
          <p:nvPr/>
        </p:nvSpPr>
        <p:spPr>
          <a:xfrm>
            <a:off x="3657601" y="396815"/>
            <a:ext cx="5771071" cy="660073"/>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SIGN IN PAGE</a:t>
            </a:r>
          </a:p>
        </p:txBody>
      </p:sp>
    </p:spTree>
    <p:extLst>
      <p:ext uri="{BB962C8B-B14F-4D97-AF65-F5344CB8AC3E}">
        <p14:creationId xmlns:p14="http://schemas.microsoft.com/office/powerpoint/2010/main" val="1467604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1DB06F-0012-1445-745A-27D5FC47F08D}"/>
              </a:ext>
            </a:extLst>
          </p:cNvPr>
          <p:cNvPicPr>
            <a:picLocks noChangeAspect="1"/>
          </p:cNvPicPr>
          <p:nvPr/>
        </p:nvPicPr>
        <p:blipFill>
          <a:blip r:embed="rId2"/>
          <a:stretch>
            <a:fillRect/>
          </a:stretch>
        </p:blipFill>
        <p:spPr>
          <a:xfrm>
            <a:off x="698739" y="1679846"/>
            <a:ext cx="10601866" cy="4667036"/>
          </a:xfrm>
          <a:prstGeom prst="rect">
            <a:avLst/>
          </a:prstGeom>
        </p:spPr>
      </p:pic>
      <p:sp>
        <p:nvSpPr>
          <p:cNvPr id="4" name="TextBox 3">
            <a:extLst>
              <a:ext uri="{FF2B5EF4-FFF2-40B4-BE49-F238E27FC236}">
                <a16:creationId xmlns:a16="http://schemas.microsoft.com/office/drawing/2014/main" id="{435C0E91-5F59-2116-DD74-3B20A551E08D}"/>
              </a:ext>
            </a:extLst>
          </p:cNvPr>
          <p:cNvSpPr txBox="1"/>
          <p:nvPr/>
        </p:nvSpPr>
        <p:spPr>
          <a:xfrm>
            <a:off x="3916393" y="511118"/>
            <a:ext cx="6935638"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HOME PAGE</a:t>
            </a:r>
          </a:p>
        </p:txBody>
      </p:sp>
    </p:spTree>
    <p:extLst>
      <p:ext uri="{BB962C8B-B14F-4D97-AF65-F5344CB8AC3E}">
        <p14:creationId xmlns:p14="http://schemas.microsoft.com/office/powerpoint/2010/main" val="3171037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FE724E-E4C1-5CC1-EDFA-26F12A7898B9}"/>
              </a:ext>
            </a:extLst>
          </p:cNvPr>
          <p:cNvPicPr>
            <a:picLocks noChangeAspect="1"/>
          </p:cNvPicPr>
          <p:nvPr/>
        </p:nvPicPr>
        <p:blipFill>
          <a:blip r:embed="rId2"/>
          <a:stretch>
            <a:fillRect/>
          </a:stretch>
        </p:blipFill>
        <p:spPr>
          <a:xfrm>
            <a:off x="854014" y="1805941"/>
            <a:ext cx="10673823" cy="4422331"/>
          </a:xfrm>
          <a:prstGeom prst="rect">
            <a:avLst/>
          </a:prstGeom>
        </p:spPr>
      </p:pic>
      <p:sp>
        <p:nvSpPr>
          <p:cNvPr id="2" name="TextBox 1">
            <a:extLst>
              <a:ext uri="{FF2B5EF4-FFF2-40B4-BE49-F238E27FC236}">
                <a16:creationId xmlns:a16="http://schemas.microsoft.com/office/drawing/2014/main" id="{574ECAC5-045D-2C48-D6F1-1582440E7A02}"/>
              </a:ext>
            </a:extLst>
          </p:cNvPr>
          <p:cNvSpPr txBox="1"/>
          <p:nvPr/>
        </p:nvSpPr>
        <p:spPr>
          <a:xfrm>
            <a:off x="3421845" y="505446"/>
            <a:ext cx="5538159"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UPLOAD FOOD IMAGE</a:t>
            </a:r>
          </a:p>
        </p:txBody>
      </p:sp>
    </p:spTree>
    <p:extLst>
      <p:ext uri="{BB962C8B-B14F-4D97-AF65-F5344CB8AC3E}">
        <p14:creationId xmlns:p14="http://schemas.microsoft.com/office/powerpoint/2010/main" val="21364567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285F6C-A3CE-1743-67F2-03978575B362}"/>
              </a:ext>
            </a:extLst>
          </p:cNvPr>
          <p:cNvPicPr>
            <a:picLocks noChangeAspect="1"/>
          </p:cNvPicPr>
          <p:nvPr/>
        </p:nvPicPr>
        <p:blipFill>
          <a:blip r:embed="rId2"/>
          <a:stretch>
            <a:fillRect/>
          </a:stretch>
        </p:blipFill>
        <p:spPr>
          <a:xfrm>
            <a:off x="457200" y="1272134"/>
            <a:ext cx="10712570" cy="5231851"/>
          </a:xfrm>
          <a:prstGeom prst="rect">
            <a:avLst/>
          </a:prstGeom>
        </p:spPr>
      </p:pic>
      <p:sp>
        <p:nvSpPr>
          <p:cNvPr id="2" name="TextBox 1">
            <a:extLst>
              <a:ext uri="{FF2B5EF4-FFF2-40B4-BE49-F238E27FC236}">
                <a16:creationId xmlns:a16="http://schemas.microsoft.com/office/drawing/2014/main" id="{C6527807-D489-0647-DFB2-4D71D8952218}"/>
              </a:ext>
            </a:extLst>
          </p:cNvPr>
          <p:cNvSpPr txBox="1"/>
          <p:nvPr/>
        </p:nvSpPr>
        <p:spPr>
          <a:xfrm>
            <a:off x="3131389" y="241540"/>
            <a:ext cx="6280030"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FOOD RECOGNITION</a:t>
            </a:r>
          </a:p>
        </p:txBody>
      </p:sp>
    </p:spTree>
    <p:extLst>
      <p:ext uri="{BB962C8B-B14F-4D97-AF65-F5344CB8AC3E}">
        <p14:creationId xmlns:p14="http://schemas.microsoft.com/office/powerpoint/2010/main" val="1546290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9B529C-96E8-D8CA-B325-ED8AE247645A}"/>
              </a:ext>
            </a:extLst>
          </p:cNvPr>
          <p:cNvSpPr txBox="1"/>
          <p:nvPr/>
        </p:nvSpPr>
        <p:spPr>
          <a:xfrm>
            <a:off x="3308046" y="942750"/>
            <a:ext cx="4960188"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0C0C66B-E4D5-09D7-1663-8ADBAFE2ED7E}"/>
              </a:ext>
            </a:extLst>
          </p:cNvPr>
          <p:cNvSpPr txBox="1"/>
          <p:nvPr/>
        </p:nvSpPr>
        <p:spPr>
          <a:xfrm>
            <a:off x="812321" y="2236062"/>
            <a:ext cx="10739886" cy="2308324"/>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FoodSynthNet</a:t>
            </a:r>
            <a:r>
              <a:rPr lang="en-US" sz="2400" dirty="0">
                <a:latin typeface="Times New Roman" panose="02020603050405020304" pitchFamily="18" charset="0"/>
                <a:cs typeface="Times New Roman" panose="02020603050405020304" pitchFamily="18" charset="0"/>
              </a:rPr>
              <a:t> project demonstrates an intelligent food recognition and nutrition monitoring system using deep learning and Generative AI techniques. By integrating CGAN-generated class-balanced datasets, the system improves food recognition accuracy and nutritional analysis. It successfully identifies food items from images and provides detailed nutritional values, health benefits, disadvantages, and dietary suggestions, helping users make informed and healthier food choices.</a:t>
            </a:r>
          </a:p>
        </p:txBody>
      </p:sp>
    </p:spTree>
    <p:extLst>
      <p:ext uri="{BB962C8B-B14F-4D97-AF65-F5344CB8AC3E}">
        <p14:creationId xmlns:p14="http://schemas.microsoft.com/office/powerpoint/2010/main" val="26103640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97A08-E3C0-DA7A-199E-9C2379E83F4D}"/>
              </a:ext>
            </a:extLst>
          </p:cNvPr>
          <p:cNvSpPr>
            <a:spLocks noGrp="1"/>
          </p:cNvSpPr>
          <p:nvPr>
            <p:ph type="ctrTitle"/>
          </p:nvPr>
        </p:nvSpPr>
        <p:spPr>
          <a:xfrm>
            <a:off x="3613755" y="971062"/>
            <a:ext cx="4964491" cy="693616"/>
          </a:xfrm>
        </p:spPr>
        <p:txBody>
          <a:bodyPr/>
          <a:lstStyle/>
          <a:p>
            <a:pPr algn="ctr"/>
            <a:r>
              <a:rPr lang="en-IN" sz="3600" b="1" dirty="0">
                <a:latin typeface="Times New Roman" panose="02020603050405020304" pitchFamily="18" charset="0"/>
                <a:cs typeface="Times New Roman" panose="02020603050405020304" pitchFamily="18" charset="0"/>
              </a:rPr>
              <a:t>FUTURE EXTENSION</a:t>
            </a:r>
          </a:p>
        </p:txBody>
      </p:sp>
      <p:sp>
        <p:nvSpPr>
          <p:cNvPr id="4" name="TextBox 3">
            <a:extLst>
              <a:ext uri="{FF2B5EF4-FFF2-40B4-BE49-F238E27FC236}">
                <a16:creationId xmlns:a16="http://schemas.microsoft.com/office/drawing/2014/main" id="{4F667F1F-A784-57DA-219D-C6671FE38162}"/>
              </a:ext>
            </a:extLst>
          </p:cNvPr>
          <p:cNvSpPr txBox="1"/>
          <p:nvPr/>
        </p:nvSpPr>
        <p:spPr>
          <a:xfrm>
            <a:off x="948906" y="2539669"/>
            <a:ext cx="10360324" cy="1569660"/>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system can be enhanced by using a larger and diverse food dataset, enabling accurate recognition of regional and global cuisines. Adding real-time calorie tracking, camera-based food detection, and wearable device integration can further improve usability and health monitoring.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8466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E8F42-03EB-9F94-CBAD-EBAB03BA0857}"/>
              </a:ext>
            </a:extLst>
          </p:cNvPr>
          <p:cNvSpPr>
            <a:spLocks noGrp="1"/>
          </p:cNvSpPr>
          <p:nvPr>
            <p:ph type="ctrTitle"/>
          </p:nvPr>
        </p:nvSpPr>
        <p:spPr>
          <a:xfrm>
            <a:off x="3157414" y="601785"/>
            <a:ext cx="4165601" cy="867507"/>
          </a:xfrm>
        </p:spPr>
        <p:txBody>
          <a:bodyPr/>
          <a:lstStyle/>
          <a:p>
            <a:pPr algn="ctr"/>
            <a:r>
              <a:rPr lang="en-IN" sz="3600" b="1" dirty="0">
                <a:latin typeface="Times New Roman" panose="02020603050405020304" pitchFamily="18" charset="0"/>
                <a:cs typeface="Times New Roman" panose="02020603050405020304" pitchFamily="18" charset="0"/>
              </a:rPr>
              <a:t>REFERENCES</a:t>
            </a:r>
          </a:p>
        </p:txBody>
      </p:sp>
      <p:sp>
        <p:nvSpPr>
          <p:cNvPr id="5" name="TextBox 4">
            <a:extLst>
              <a:ext uri="{FF2B5EF4-FFF2-40B4-BE49-F238E27FC236}">
                <a16:creationId xmlns:a16="http://schemas.microsoft.com/office/drawing/2014/main" id="{9CB9488E-66EA-3C3D-D0E6-EE9DCA349D82}"/>
              </a:ext>
            </a:extLst>
          </p:cNvPr>
          <p:cNvSpPr txBox="1"/>
          <p:nvPr/>
        </p:nvSpPr>
        <p:spPr>
          <a:xfrm>
            <a:off x="439947" y="1725283"/>
            <a:ext cx="10765765" cy="4893647"/>
          </a:xfrm>
          <a:prstGeom prst="rect">
            <a:avLst/>
          </a:prstGeom>
          <a:noFill/>
        </p:spPr>
        <p:txBody>
          <a:bodyPr wrap="square" rtlCol="0">
            <a:spAutoFit/>
          </a:bodyPr>
          <a:lstStyle/>
          <a:p>
            <a:pPr algn="just"/>
            <a:r>
              <a:rPr lang="en-IN" sz="2400" b="1" dirty="0">
                <a:latin typeface="Times New Roman" panose="02020603050405020304" pitchFamily="18" charset="0"/>
                <a:cs typeface="Times New Roman" panose="02020603050405020304" pitchFamily="18" charset="0"/>
              </a:rPr>
              <a:t>Chen, M., Dhingra, K., Wu, W., Yang, L., </a:t>
            </a:r>
            <a:r>
              <a:rPr lang="en-IN" sz="2400" b="1" dirty="0" err="1">
                <a:latin typeface="Times New Roman" panose="02020603050405020304" pitchFamily="18" charset="0"/>
                <a:cs typeface="Times New Roman" panose="02020603050405020304" pitchFamily="18" charset="0"/>
              </a:rPr>
              <a:t>Sukthankar</a:t>
            </a:r>
            <a:r>
              <a:rPr lang="en-IN" sz="2400" b="1" dirty="0">
                <a:latin typeface="Times New Roman" panose="02020603050405020304" pitchFamily="18" charset="0"/>
                <a:cs typeface="Times New Roman" panose="02020603050405020304" pitchFamily="18" charset="0"/>
              </a:rPr>
              <a:t>, R., &amp; Yang, J. (2009) – </a:t>
            </a:r>
            <a:r>
              <a:rPr lang="en-IN" sz="2400" dirty="0">
                <a:latin typeface="Times New Roman" panose="02020603050405020304" pitchFamily="18" charset="0"/>
                <a:cs typeface="Times New Roman" panose="02020603050405020304" pitchFamily="18" charset="0"/>
              </a:rPr>
              <a:t>Proposed a probabilistic model for food recognition in restaurant environments. Their approach showed that contextual information can enhance recognition accuracy in real-world scenarios.</a:t>
            </a:r>
          </a:p>
          <a:p>
            <a:pPr algn="just"/>
            <a:endParaRPr lang="en-IN"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Min, W., Jiang, S., Liu, L., Rui, Y., &amp; Jain, R. (2019) – </a:t>
            </a:r>
            <a:r>
              <a:rPr lang="en-US" sz="2400" dirty="0">
                <a:latin typeface="Times New Roman" panose="02020603050405020304" pitchFamily="18" charset="0"/>
                <a:cs typeface="Times New Roman" panose="02020603050405020304" pitchFamily="18" charset="0"/>
              </a:rPr>
              <a:t>Provided a comprehensive survey on food computing, covering food recognition, retrieval, and nutrition analysis. The work emphasized the importance of integrating visual analysis with health-related information.</a:t>
            </a:r>
          </a:p>
          <a:p>
            <a:pPr algn="just"/>
            <a:endParaRPr lang="en-IN" sz="2400" dirty="0">
              <a:latin typeface="Times New Roman" panose="02020603050405020304" pitchFamily="18" charset="0"/>
              <a:cs typeface="Times New Roman" panose="02020603050405020304" pitchFamily="18" charset="0"/>
            </a:endParaRPr>
          </a:p>
          <a:p>
            <a:pPr algn="just"/>
            <a:r>
              <a:rPr lang="en-US" sz="2400" b="1" dirty="0" err="1">
                <a:latin typeface="Times New Roman" panose="02020603050405020304" pitchFamily="18" charset="0"/>
                <a:cs typeface="Times New Roman" panose="02020603050405020304" pitchFamily="18" charset="0"/>
              </a:rPr>
              <a:t>Krizhevsky</a:t>
            </a:r>
            <a:r>
              <a:rPr lang="en-US" sz="2400" b="1" dirty="0">
                <a:latin typeface="Times New Roman" panose="02020603050405020304" pitchFamily="18" charset="0"/>
                <a:cs typeface="Times New Roman" panose="02020603050405020304" pitchFamily="18" charset="0"/>
              </a:rPr>
              <a:t>, A., </a:t>
            </a:r>
            <a:r>
              <a:rPr lang="en-US" sz="2400" b="1" dirty="0" err="1">
                <a:latin typeface="Times New Roman" panose="02020603050405020304" pitchFamily="18" charset="0"/>
                <a:cs typeface="Times New Roman" panose="02020603050405020304" pitchFamily="18" charset="0"/>
              </a:rPr>
              <a:t>Sutskever</a:t>
            </a:r>
            <a:r>
              <a:rPr lang="en-US" sz="2400" b="1" dirty="0">
                <a:latin typeface="Times New Roman" panose="02020603050405020304" pitchFamily="18" charset="0"/>
                <a:cs typeface="Times New Roman" panose="02020603050405020304" pitchFamily="18" charset="0"/>
              </a:rPr>
              <a:t>, I., &amp; Hinton, G. E. (2012) – </a:t>
            </a:r>
            <a:r>
              <a:rPr lang="en-US" sz="2400" dirty="0">
                <a:latin typeface="Times New Roman" panose="02020603050405020304" pitchFamily="18" charset="0"/>
                <a:cs typeface="Times New Roman" panose="02020603050405020304" pitchFamily="18" charset="0"/>
              </a:rPr>
              <a:t>ImageNet Classification with Deep Convolutional Neural Networks. </a:t>
            </a:r>
            <a:r>
              <a:rPr lang="en-US" sz="2400" dirty="0" err="1">
                <a:latin typeface="Times New Roman" panose="02020603050405020304" pitchFamily="18" charset="0"/>
                <a:cs typeface="Times New Roman" panose="02020603050405020304" pitchFamily="18" charset="0"/>
              </a:rPr>
              <a:t>NeurIPS</a:t>
            </a:r>
            <a:r>
              <a:rPr lang="en-US" sz="2400" dirty="0">
                <a:latin typeface="Times New Roman" panose="02020603050405020304" pitchFamily="18" charset="0"/>
                <a:cs typeface="Times New Roman" panose="02020603050405020304" pitchFamily="18" charset="0"/>
              </a:rPr>
              <a:t>. This research established CNNs as a powerful approach for image recognition, applied here for food classification.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2673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5AB045-7C4E-92C9-8E94-672DAE534EA3}"/>
              </a:ext>
            </a:extLst>
          </p:cNvPr>
          <p:cNvSpPr txBox="1"/>
          <p:nvPr/>
        </p:nvSpPr>
        <p:spPr>
          <a:xfrm>
            <a:off x="3347050" y="2734573"/>
            <a:ext cx="5633048" cy="1015663"/>
          </a:xfrm>
          <a:prstGeom prst="rect">
            <a:avLst/>
          </a:prstGeom>
          <a:noFill/>
        </p:spPr>
        <p:txBody>
          <a:bodyPr wrap="square" rtlCol="0">
            <a:spAutoFit/>
          </a:bodyPr>
          <a:lstStyle/>
          <a:p>
            <a:r>
              <a:rPr lang="en-US" sz="6000" b="1" dirty="0">
                <a:latin typeface="Arial Rounded MT Bold" panose="020F0704030504030204" pitchFamily="34" charset="0"/>
                <a:cs typeface="Times New Roman" panose="02020603050405020304" pitchFamily="18" charset="0"/>
              </a:rPr>
              <a:t>THANK YOU</a:t>
            </a:r>
            <a:endParaRPr lang="en-IN" sz="6000" b="1" dirty="0">
              <a:latin typeface="Arial Rounded MT Bold" panose="020F0704030504030204" pitchFamily="34" charset="0"/>
              <a:cs typeface="Times New Roman" panose="02020603050405020304" pitchFamily="18" charset="0"/>
            </a:endParaRPr>
          </a:p>
        </p:txBody>
      </p:sp>
    </p:spTree>
    <p:extLst>
      <p:ext uri="{BB962C8B-B14F-4D97-AF65-F5344CB8AC3E}">
        <p14:creationId xmlns:p14="http://schemas.microsoft.com/office/powerpoint/2010/main" val="8322602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1537</TotalTime>
  <Words>2009</Words>
  <Application>Microsoft Office PowerPoint</Application>
  <PresentationFormat>Widescreen</PresentationFormat>
  <Paragraphs>248</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Arial Rounded MT Bold</vt:lpstr>
      <vt:lpstr>Calibri</vt:lpstr>
      <vt:lpstr>Century Gothic</vt:lpstr>
      <vt:lpstr>Times New Roman</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MODULES</vt:lpstr>
      <vt:lpstr>PowerPoint Presentation</vt:lpstr>
      <vt:lpstr>PowerPoint Presentation</vt:lpstr>
      <vt:lpstr>PowerPoint Presentation</vt:lpstr>
      <vt:lpstr>PowerPoint Presentation</vt:lpstr>
      <vt:lpstr>PowerPoint Presentation</vt:lpstr>
      <vt:lpstr>PowerPoint Presentation</vt:lpstr>
      <vt:lpstr>ALGORITHMS</vt:lpstr>
      <vt:lpstr>PowerPoint Presentation</vt:lpstr>
      <vt:lpstr>PowerPoint Presentation</vt:lpstr>
      <vt:lpstr>TESTING AND TEST CASES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EXTENSION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Shaik Nausheen</dc:creator>
  <cp:lastModifiedBy>Shaik Nausheen</cp:lastModifiedBy>
  <cp:revision>56</cp:revision>
  <dcterms:created xsi:type="dcterms:W3CDTF">2025-09-01T08:09:35Z</dcterms:created>
  <dcterms:modified xsi:type="dcterms:W3CDTF">2026-04-26T15:15:30Z</dcterms:modified>
</cp:coreProperties>
</file>